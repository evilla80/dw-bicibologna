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19"/>
  </p:notesMasterIdLst>
  <p:sldIdLst>
    <p:sldId id="258" r:id="rId2"/>
    <p:sldId id="264" r:id="rId3"/>
    <p:sldId id="274" r:id="rId4"/>
    <p:sldId id="275" r:id="rId5"/>
    <p:sldId id="276" r:id="rId6"/>
    <p:sldId id="285" r:id="rId7"/>
    <p:sldId id="277" r:id="rId8"/>
    <p:sldId id="278" r:id="rId9"/>
    <p:sldId id="287" r:id="rId10"/>
    <p:sldId id="288" r:id="rId11"/>
    <p:sldId id="279" r:id="rId12"/>
    <p:sldId id="281" r:id="rId13"/>
    <p:sldId id="283" r:id="rId14"/>
    <p:sldId id="280" r:id="rId15"/>
    <p:sldId id="282" r:id="rId16"/>
    <p:sldId id="284" r:id="rId17"/>
    <p:sldId id="289" r:id="rId18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zione senza titolo" id="{E193093A-F999-44AC-B11C-452B0F891CAD}">
          <p14:sldIdLst>
            <p14:sldId id="258"/>
            <p14:sldId id="264"/>
            <p14:sldId id="274"/>
            <p14:sldId id="275"/>
            <p14:sldId id="276"/>
            <p14:sldId id="285"/>
            <p14:sldId id="277"/>
            <p14:sldId id="278"/>
            <p14:sldId id="287"/>
            <p14:sldId id="288"/>
            <p14:sldId id="279"/>
            <p14:sldId id="281"/>
            <p14:sldId id="283"/>
            <p14:sldId id="280"/>
            <p14:sldId id="282"/>
            <p14:sldId id="284"/>
            <p14:sldId id="28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.villa80@campus.unimib.it" initials="e" lastIdx="5" clrIdx="0">
    <p:extLst>
      <p:ext uri="{19B8F6BF-5375-455C-9EA6-DF929625EA0E}">
        <p15:presenceInfo xmlns:p15="http://schemas.microsoft.com/office/powerpoint/2012/main" userId="e.villa80@campus.unimib.it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92D"/>
    <a:srgbClr val="C3E59F"/>
    <a:srgbClr val="006C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Stile medio 2 - Color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FECB4D8-DB02-4DC6-A0A2-4F2EBAE1DC90}" styleName="Stile medio 1 - Colore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3" autoAdjust="0"/>
    <p:restoredTop sz="79479" autoAdjust="0"/>
  </p:normalViewPr>
  <p:slideViewPr>
    <p:cSldViewPr snapToGrid="0">
      <p:cViewPr>
        <p:scale>
          <a:sx n="66" d="100"/>
          <a:sy n="66" d="100"/>
        </p:scale>
        <p:origin x="2196" y="600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D1B594-77E6-4398-8AE0-499DDAA36978}" type="datetimeFigureOut">
              <a:rPr lang="it-IT" smtClean="0"/>
              <a:t>16/02/2026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FF6CFB-7BFC-4F7C-961F-71E41C4C566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220303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FF6CFB-7BFC-4F7C-961F-71E41C4C5660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81350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strumenti ETL classici, io ho scelto un approccio ELT moderno, sfruttando la potenza di calcolo di </a:t>
            </a:r>
            <a:r>
              <a:rPr lang="it-IT" dirty="0" err="1"/>
              <a:t>DuckDB</a:t>
            </a:r>
            <a:r>
              <a:rPr lang="it-IT" dirty="0"/>
              <a:t> per le trasformazioni spaziali complesse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FF6CFB-7BFC-4F7C-961F-71E41C4C5660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599547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Non mi sono limitata a registrare 'quando' passa una bici, ma ho separato la Data dall'Ora. Perché? Perché al Comune interessa sapere se alle 8 di mattina c'è traffico (pendolari), indipendentemente da che giorno sia.</a:t>
            </a:r>
          </a:p>
          <a:p>
            <a:r>
              <a:rPr lang="it-IT" dirty="0"/>
              <a:t>Linea attributo descrittivo (non lo uso per fare calcoli ne come identificativo) . Potevo modellare anche feriale? con </a:t>
            </a:r>
            <a:r>
              <a:rPr lang="it-IT" dirty="0" err="1"/>
              <a:t>un'attributo</a:t>
            </a:r>
            <a:r>
              <a:rPr lang="it-IT" dirty="0"/>
              <a:t> cross dimensionale, collegandolo a weekend e festivo e con la lineetta.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FF6CFB-7BFC-4F7C-961F-71E41C4C5660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405818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200" spc="-10" dirty="0">
                <a:latin typeface="Arial MT"/>
                <a:cs typeface="Arial MT"/>
              </a:rPr>
              <a:t>Normalizzazione: la tabella colonnina è stata separata dalla tabella quartiere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200" spc="-10" dirty="0">
                <a:latin typeface="Arial MT"/>
                <a:cs typeface="Arial MT"/>
              </a:rPr>
              <a:t>SCD tipo 1: in caso di cambiamenti i dati vecchi vengono sovrascritti.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IT" sz="1200" spc="-10" dirty="0">
              <a:latin typeface="Arial MT"/>
              <a:cs typeface="Arial MT"/>
            </a:endParaRP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FF6CFB-7BFC-4F7C-961F-71E41C4C5660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9364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200" spc="-10" dirty="0">
                <a:latin typeface="Arial MT"/>
                <a:cs typeface="Arial MT"/>
              </a:rPr>
              <a:t>Normalizzazione: la tabella colonnina è stata separata dalla tabella quartiere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200" spc="-10" dirty="0">
                <a:latin typeface="Arial MT"/>
                <a:cs typeface="Arial MT"/>
              </a:rPr>
              <a:t>SCD tipo 1: in caso di cambiamenti i dati vecchi vengono sovrascritti.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IT" sz="1200" spc="-10" dirty="0">
              <a:latin typeface="Arial MT"/>
              <a:cs typeface="Arial MT"/>
            </a:endParaRP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FF6CFB-7BFC-4F7C-961F-71E41C4C5660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911178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200" spc="-10" dirty="0">
                <a:latin typeface="Arial MT"/>
                <a:cs typeface="Arial MT"/>
              </a:rPr>
              <a:t>Ho estrazione dinamica, visto che ODS hanno le marche temporali, in questo modo carico solo delta temporali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200" spc="-10" dirty="0">
                <a:latin typeface="Arial MT"/>
                <a:cs typeface="Arial MT"/>
              </a:rPr>
              <a:t>Controllo che l’update time messo nell’</a:t>
            </a:r>
            <a:r>
              <a:rPr lang="it-IT" sz="1200" spc="-10" dirty="0" err="1">
                <a:latin typeface="Arial MT"/>
                <a:cs typeface="Arial MT"/>
              </a:rPr>
              <a:t>ods</a:t>
            </a:r>
            <a:r>
              <a:rPr lang="it-IT" sz="1200" spc="-10" dirty="0">
                <a:latin typeface="Arial MT"/>
                <a:cs typeface="Arial MT"/>
              </a:rPr>
              <a:t> sia maggiore di </a:t>
            </a:r>
            <a:r>
              <a:rPr lang="it-IT" sz="1200" spc="-10" dirty="0" err="1">
                <a:latin typeface="Arial MT"/>
                <a:cs typeface="Arial MT"/>
              </a:rPr>
              <a:t>last_execution</a:t>
            </a:r>
            <a:endParaRPr lang="it-IT" sz="1200" spc="-10" dirty="0">
              <a:latin typeface="Arial MT"/>
              <a:cs typeface="Arial MT"/>
            </a:endParaRP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FF6CFB-7BFC-4F7C-961F-71E41C4C5660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418998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Poi ho usato distanza per prendere la chiave del quartiere con distanza minima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FF6CFB-7BFC-4F7C-961F-71E41C4C5660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606146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FF6CFB-7BFC-4F7C-961F-71E41C4C5660}" type="slidenum">
              <a:rPr lang="it-IT" smtClean="0"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385666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FF6CFB-7BFC-4F7C-961F-71E41C4C5660}" type="slidenum">
              <a:rPr lang="it-IT" smtClean="0"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263059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FF6CFB-7BFC-4F7C-961F-71E41C4C5660}" type="slidenum">
              <a:rPr lang="it-IT" smtClean="0"/>
              <a:t>17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549029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96900" y="618871"/>
            <a:ext cx="10998200" cy="436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8824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rgbClr val="7E7E7E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240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rgbClr val="7E7E7E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56814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rgbClr val="7E7E7E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04683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98602" y="0"/>
            <a:ext cx="8540881" cy="6857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677924" cy="6858000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1007363" y="548640"/>
            <a:ext cx="1452880" cy="1225550"/>
          </a:xfrm>
          <a:custGeom>
            <a:avLst/>
            <a:gdLst/>
            <a:ahLst/>
            <a:cxnLst/>
            <a:rect l="l" t="t" r="r" b="b"/>
            <a:pathLst>
              <a:path w="1452880" h="1225550">
                <a:moveTo>
                  <a:pt x="1248156" y="0"/>
                </a:moveTo>
                <a:lnTo>
                  <a:pt x="204216" y="0"/>
                </a:lnTo>
                <a:lnTo>
                  <a:pt x="157390" y="5393"/>
                </a:lnTo>
                <a:lnTo>
                  <a:pt x="114405" y="20758"/>
                </a:lnTo>
                <a:lnTo>
                  <a:pt x="76487" y="44866"/>
                </a:lnTo>
                <a:lnTo>
                  <a:pt x="44862" y="76493"/>
                </a:lnTo>
                <a:lnTo>
                  <a:pt x="20756" y="114411"/>
                </a:lnTo>
                <a:lnTo>
                  <a:pt x="5393" y="157394"/>
                </a:lnTo>
                <a:lnTo>
                  <a:pt x="0" y="204215"/>
                </a:lnTo>
                <a:lnTo>
                  <a:pt x="0" y="1021080"/>
                </a:lnTo>
                <a:lnTo>
                  <a:pt x="5393" y="1067901"/>
                </a:lnTo>
                <a:lnTo>
                  <a:pt x="20756" y="1110884"/>
                </a:lnTo>
                <a:lnTo>
                  <a:pt x="44862" y="1148802"/>
                </a:lnTo>
                <a:lnTo>
                  <a:pt x="76487" y="1180429"/>
                </a:lnTo>
                <a:lnTo>
                  <a:pt x="114405" y="1204537"/>
                </a:lnTo>
                <a:lnTo>
                  <a:pt x="157390" y="1219902"/>
                </a:lnTo>
                <a:lnTo>
                  <a:pt x="204216" y="1225296"/>
                </a:lnTo>
                <a:lnTo>
                  <a:pt x="1248156" y="1225296"/>
                </a:lnTo>
                <a:lnTo>
                  <a:pt x="1294977" y="1219902"/>
                </a:lnTo>
                <a:lnTo>
                  <a:pt x="1337960" y="1204537"/>
                </a:lnTo>
                <a:lnTo>
                  <a:pt x="1375878" y="1180429"/>
                </a:lnTo>
                <a:lnTo>
                  <a:pt x="1407505" y="1148802"/>
                </a:lnTo>
                <a:lnTo>
                  <a:pt x="1431613" y="1110884"/>
                </a:lnTo>
                <a:lnTo>
                  <a:pt x="1446978" y="1067901"/>
                </a:lnTo>
                <a:lnTo>
                  <a:pt x="1452372" y="1021080"/>
                </a:lnTo>
                <a:lnTo>
                  <a:pt x="1452372" y="204215"/>
                </a:lnTo>
                <a:lnTo>
                  <a:pt x="1446978" y="157394"/>
                </a:lnTo>
                <a:lnTo>
                  <a:pt x="1431613" y="114411"/>
                </a:lnTo>
                <a:lnTo>
                  <a:pt x="1407505" y="76493"/>
                </a:lnTo>
                <a:lnTo>
                  <a:pt x="1375878" y="44866"/>
                </a:lnTo>
                <a:lnTo>
                  <a:pt x="1337960" y="20758"/>
                </a:lnTo>
                <a:lnTo>
                  <a:pt x="1294977" y="5393"/>
                </a:lnTo>
                <a:lnTo>
                  <a:pt x="124815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17091" y="603504"/>
            <a:ext cx="1123187" cy="1123188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483352" y="118871"/>
            <a:ext cx="1225296" cy="12573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477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498602" y="0"/>
            <a:ext cx="8540881" cy="685799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6900" y="618871"/>
            <a:ext cx="10998200" cy="436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rgbClr val="7E7E7E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3250" y="3165601"/>
            <a:ext cx="10149840" cy="28733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39555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>
            <a:extLst>
              <a:ext uri="{FF2B5EF4-FFF2-40B4-BE49-F238E27FC236}">
                <a16:creationId xmlns:a16="http://schemas.microsoft.com/office/drawing/2014/main" id="{758937C6-84A0-4590-9B3B-18D5B798417A}"/>
              </a:ext>
            </a:extLst>
          </p:cNvPr>
          <p:cNvSpPr txBox="1"/>
          <p:nvPr/>
        </p:nvSpPr>
        <p:spPr>
          <a:xfrm>
            <a:off x="2896364" y="1553591"/>
            <a:ext cx="640080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Università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degli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Studi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di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Milano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Bicocca</a:t>
            </a:r>
            <a:endParaRPr sz="1800" dirty="0">
              <a:latin typeface="Arial MT"/>
              <a:cs typeface="Arial MT"/>
            </a:endParaRPr>
          </a:p>
          <a:p>
            <a:pPr marL="12700" marR="5080" algn="ctr">
              <a:lnSpc>
                <a:spcPct val="100000"/>
              </a:lnSpc>
            </a:pPr>
            <a:r>
              <a:rPr sz="1800" b="1" spc="-5" dirty="0">
                <a:latin typeface="Arial"/>
                <a:cs typeface="Arial"/>
              </a:rPr>
              <a:t>Dipartimento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di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Informatica,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Sistemistica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e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Comunicazione </a:t>
            </a:r>
            <a:r>
              <a:rPr sz="1800" b="1" spc="-484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Corso</a:t>
            </a:r>
            <a:r>
              <a:rPr sz="1800" b="1" dirty="0">
                <a:latin typeface="Arial"/>
                <a:cs typeface="Arial"/>
              </a:rPr>
              <a:t> di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lang="it-IT" sz="1800" b="1" spc="-5" dirty="0">
                <a:latin typeface="Arial"/>
                <a:cs typeface="Arial"/>
              </a:rPr>
              <a:t>Laurea Magistrale</a:t>
            </a:r>
            <a:r>
              <a:rPr sz="1800" b="1" dirty="0">
                <a:latin typeface="Arial"/>
                <a:cs typeface="Arial"/>
              </a:rPr>
              <a:t> in</a:t>
            </a:r>
            <a:r>
              <a:rPr sz="1800" b="1" spc="-5" dirty="0">
                <a:latin typeface="Arial"/>
                <a:cs typeface="Arial"/>
              </a:rPr>
              <a:t> Informatica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9414295D-0B49-41AA-8FCC-E048A6B9895D}"/>
              </a:ext>
            </a:extLst>
          </p:cNvPr>
          <p:cNvSpPr txBox="1"/>
          <p:nvPr/>
        </p:nvSpPr>
        <p:spPr>
          <a:xfrm>
            <a:off x="2485642" y="2921722"/>
            <a:ext cx="7219186" cy="9007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7000"/>
              </a:lnSpc>
              <a:spcBef>
                <a:spcPts val="95"/>
              </a:spcBef>
            </a:pPr>
            <a:r>
              <a:rPr lang="it-IT" sz="2800" b="1" spc="-30" dirty="0">
                <a:latin typeface="Arial MT"/>
                <a:cs typeface="Arial" panose="020B0604020202020204" pitchFamily="34" charset="0"/>
              </a:rPr>
              <a:t>Analisi dei flussi ciclistici a Bologna in relazione alle condizioni meteorologiche. </a:t>
            </a:r>
            <a:endParaRPr lang="it-IT" sz="2800" dirty="0">
              <a:latin typeface="Arial MT"/>
              <a:cs typeface="Arial" panose="020B0604020202020204" pitchFamily="34" charset="0"/>
            </a:endParaRPr>
          </a:p>
        </p:txBody>
      </p:sp>
      <p:sp>
        <p:nvSpPr>
          <p:cNvPr id="10" name="object 4">
            <a:extLst>
              <a:ext uri="{FF2B5EF4-FFF2-40B4-BE49-F238E27FC236}">
                <a16:creationId xmlns:a16="http://schemas.microsoft.com/office/drawing/2014/main" id="{DCB4ADC2-2C1F-494E-A204-F51F2D5503A1}"/>
              </a:ext>
            </a:extLst>
          </p:cNvPr>
          <p:cNvSpPr txBox="1"/>
          <p:nvPr/>
        </p:nvSpPr>
        <p:spPr>
          <a:xfrm>
            <a:off x="3975923" y="5490159"/>
            <a:ext cx="4238625" cy="6412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it-IT" sz="2000" spc="-5" dirty="0">
                <a:latin typeface="Arial MT"/>
                <a:cs typeface="Arial MT"/>
              </a:rPr>
              <a:t>Villa Emma</a:t>
            </a: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it-IT" sz="2000" spc="-5" dirty="0">
                <a:latin typeface="Arial MT"/>
                <a:cs typeface="Arial MT"/>
              </a:rPr>
              <a:t>Matricola 885906</a:t>
            </a:r>
            <a:endParaRPr sz="2000" dirty="0">
              <a:latin typeface="Arial MT"/>
              <a:cs typeface="Arial MT"/>
            </a:endParaRPr>
          </a:p>
        </p:txBody>
      </p:sp>
      <p:pic>
        <p:nvPicPr>
          <p:cNvPr id="1030" name="Picture 6" descr="Insegnamenti in inglese | Dipartimento di Scienze dell'Ambiente e della  Terra">
            <a:extLst>
              <a:ext uri="{FF2B5EF4-FFF2-40B4-BE49-F238E27FC236}">
                <a16:creationId xmlns:a16="http://schemas.microsoft.com/office/drawing/2014/main" id="{04A22223-B5E8-4AC3-B958-E632AAEA54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2753" y="182717"/>
            <a:ext cx="1224967" cy="1321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laborazione 3">
            <a:extLst>
              <a:ext uri="{FF2B5EF4-FFF2-40B4-BE49-F238E27FC236}">
                <a16:creationId xmlns:a16="http://schemas.microsoft.com/office/drawing/2014/main" id="{EF8D087E-D2CD-42DF-812D-5A558AA7F525}"/>
              </a:ext>
            </a:extLst>
          </p:cNvPr>
          <p:cNvSpPr/>
          <p:nvPr/>
        </p:nvSpPr>
        <p:spPr>
          <a:xfrm>
            <a:off x="-1" y="0"/>
            <a:ext cx="775523" cy="6858000"/>
          </a:xfrm>
          <a:prstGeom prst="flowChartProcess">
            <a:avLst/>
          </a:prstGeom>
          <a:solidFill>
            <a:srgbClr val="00792D"/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object 4">
            <a:extLst>
              <a:ext uri="{FF2B5EF4-FFF2-40B4-BE49-F238E27FC236}">
                <a16:creationId xmlns:a16="http://schemas.microsoft.com/office/drawing/2014/main" id="{A27BBC99-5394-4800-8E37-1BD9B13BFBD3}"/>
              </a:ext>
            </a:extLst>
          </p:cNvPr>
          <p:cNvSpPr txBox="1"/>
          <p:nvPr/>
        </p:nvSpPr>
        <p:spPr>
          <a:xfrm>
            <a:off x="2894836" y="4342253"/>
            <a:ext cx="640080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it-IT" sz="2400" spc="-5" dirty="0">
                <a:latin typeface="Arial MT"/>
                <a:cs typeface="Arial MT"/>
              </a:rPr>
              <a:t>Progettazione e implementazione di un Data Warehouse</a:t>
            </a:r>
            <a:endParaRPr sz="2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aborazione 3">
            <a:extLst>
              <a:ext uri="{FF2B5EF4-FFF2-40B4-BE49-F238E27FC236}">
                <a16:creationId xmlns:a16="http://schemas.microsoft.com/office/drawing/2014/main" id="{EF8D087E-D2CD-42DF-812D-5A558AA7F525}"/>
              </a:ext>
            </a:extLst>
          </p:cNvPr>
          <p:cNvSpPr/>
          <p:nvPr/>
        </p:nvSpPr>
        <p:spPr>
          <a:xfrm>
            <a:off x="0" y="0"/>
            <a:ext cx="316089" cy="6858000"/>
          </a:xfrm>
          <a:prstGeom prst="flowChartProcess">
            <a:avLst/>
          </a:prstGeom>
          <a:solidFill>
            <a:srgbClr val="00792D"/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9597073-690D-45CE-B023-125DE0D53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450" y="406600"/>
            <a:ext cx="10998200" cy="615553"/>
          </a:xfrm>
        </p:spPr>
        <p:txBody>
          <a:bodyPr/>
          <a:lstStyle/>
          <a:p>
            <a:r>
              <a:rPr lang="it-IT" sz="4000" dirty="0">
                <a:solidFill>
                  <a:schemeClr val="tx1"/>
                </a:solidFill>
              </a:rPr>
              <a:t>Contesto e Obiettivi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testo 2">
                <a:extLst>
                  <a:ext uri="{FF2B5EF4-FFF2-40B4-BE49-F238E27FC236}">
                    <a16:creationId xmlns:a16="http://schemas.microsoft.com/office/drawing/2014/main" id="{D4DBC7F8-96D1-4083-82C0-64082993E3A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762000" y="1256467"/>
                <a:ext cx="10833100" cy="5194933"/>
              </a:xfrm>
            </p:spPr>
            <p:txBody>
              <a:bodyPr/>
              <a:lstStyle/>
              <a:p>
                <a:r>
                  <a:rPr lang="it-IT" sz="2400" spc="-10" dirty="0">
                    <a:latin typeface="Arial MT"/>
                    <a:cs typeface="Arial MT"/>
                  </a:rPr>
                  <a:t>Negli ultimi anni Bologna ha investito nella mobilità sostenibile: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sz="2400" spc="-10" dirty="0">
                    <a:latin typeface="Arial MT"/>
                    <a:cs typeface="Arial MT"/>
                  </a:rPr>
                  <a:t>Sviluppo ed espansione della rete di piste ciclabili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sz="2400" spc="-10" dirty="0">
                    <a:latin typeface="Arial MT"/>
                    <a:cs typeface="Arial MT"/>
                  </a:rPr>
                  <a:t>Politiche di riduzione della </a:t>
                </a:r>
                <a14:m>
                  <m:oMath xmlns:m="http://schemas.openxmlformats.org/officeDocument/2006/math">
                    <m:r>
                      <a:rPr lang="it-IT" sz="2400" b="0" i="1" spc="-10" smtClean="0">
                        <a:latin typeface="Cambria Math" panose="02040503050406030204" pitchFamily="18" charset="0"/>
                        <a:cs typeface="Arial MT"/>
                      </a:rPr>
                      <m:t>𝐶</m:t>
                    </m:r>
                    <m:sSub>
                      <m:sSubPr>
                        <m:ctrlPr>
                          <a:rPr lang="it-IT" sz="2400" b="0" i="1" spc="-1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b="0" i="1" spc="-10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it-IT" sz="2400" b="0" i="1" spc="-1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it-IT" sz="2400" spc="-10" dirty="0">
                    <a:latin typeface="Arial MT"/>
                    <a:cs typeface="Arial MT"/>
                  </a:rPr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sz="2400" spc="-10" dirty="0">
                    <a:latin typeface="Arial MT"/>
                    <a:cs typeface="Arial MT"/>
                  </a:rPr>
                  <a:t>Installazione di colonnine conta-bici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it-IT" sz="2400" spc="-10" dirty="0">
                  <a:latin typeface="Arial MT"/>
                  <a:cs typeface="Arial MT"/>
                </a:endParaRPr>
              </a:p>
              <a:p>
                <a:r>
                  <a:rPr lang="it-IT" sz="2400" b="1" spc="-10" dirty="0">
                    <a:latin typeface="Arial MT"/>
                    <a:cs typeface="Arial MT"/>
                  </a:rPr>
                  <a:t>Obiettivo: </a:t>
                </a:r>
                <a:r>
                  <a:rPr lang="it-IT" sz="2400" spc="-10" dirty="0">
                    <a:latin typeface="Arial MT"/>
                    <a:cs typeface="Arial MT"/>
                  </a:rPr>
                  <a:t>Realizzare un sistema di supporto alle decisioni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it-IT" sz="2400" spc="-10" dirty="0">
                    <a:latin typeface="Arial MT"/>
                    <a:cs typeface="Arial MT"/>
                  </a:rPr>
                  <a:t>Instaurazione di nuove piste ciclabili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it-IT" sz="2400" spc="-10" dirty="0">
                    <a:latin typeface="Arial MT"/>
                    <a:cs typeface="Arial MT"/>
                  </a:rPr>
                  <a:t>Introduzione di servizi di bike sharing</a:t>
                </a:r>
              </a:p>
              <a:p>
                <a:pPr marL="914400" lvl="1" indent="-457200">
                  <a:buFont typeface="Arial" panose="020B0604020202020204" pitchFamily="34" charset="0"/>
                  <a:buChar char="•"/>
                </a:pPr>
                <a:r>
                  <a:rPr lang="it-IT" sz="2400" spc="-10" dirty="0">
                    <a:latin typeface="Arial MT"/>
                    <a:cs typeface="Arial MT"/>
                  </a:rPr>
                  <a:t>Gestione e distribuzione delle biciclette sul territorio</a:t>
                </a:r>
              </a:p>
              <a:p>
                <a:endParaRPr lang="it-IT" sz="2400" spc="-10" dirty="0">
                  <a:latin typeface="Arial MT"/>
                  <a:cs typeface="Arial MT"/>
                </a:endParaRPr>
              </a:p>
              <a:p>
                <a:r>
                  <a:rPr lang="it-IT" sz="2400" b="1" spc="-10" dirty="0">
                    <a:latin typeface="Arial MT"/>
                    <a:cs typeface="Arial MT"/>
                  </a:rPr>
                  <a:t>Problema: </a:t>
                </a:r>
                <a:r>
                  <a:rPr lang="it-IT" sz="2400" spc="-10" dirty="0">
                    <a:latin typeface="Arial MT"/>
                    <a:cs typeface="Arial MT"/>
                  </a:rPr>
                  <a:t>per analizzare correttamente il flusso ciclistico non basta il semplice conteggio delle bici. Bisogna tenere in considerazione: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sz="2400" spc="-10" dirty="0">
                    <a:latin typeface="Arial MT"/>
                    <a:cs typeface="Arial MT"/>
                  </a:rPr>
                  <a:t>Dimensione temporale, spaziale e condizioni meteorologiche</a:t>
                </a:r>
              </a:p>
              <a:p>
                <a:endParaRPr lang="it-IT" sz="2400" spc="-10" dirty="0">
                  <a:latin typeface="Arial MT"/>
                  <a:cs typeface="Arial MT"/>
                </a:endParaRPr>
              </a:p>
              <a:p>
                <a:endParaRPr lang="it-IT" sz="2800" spc="-10" dirty="0">
                  <a:latin typeface="Arial MT"/>
                  <a:cs typeface="Arial MT"/>
                </a:endParaRPr>
              </a:p>
            </p:txBody>
          </p:sp>
        </mc:Choice>
        <mc:Fallback xmlns="">
          <p:sp>
            <p:nvSpPr>
              <p:cNvPr id="3" name="Segnaposto testo 2">
                <a:extLst>
                  <a:ext uri="{FF2B5EF4-FFF2-40B4-BE49-F238E27FC236}">
                    <a16:creationId xmlns:a16="http://schemas.microsoft.com/office/drawing/2014/main" id="{D4DBC7F8-96D1-4083-82C0-64082993E3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62000" y="1256467"/>
                <a:ext cx="10833100" cy="5194933"/>
              </a:xfrm>
              <a:blipFill>
                <a:blip r:embed="rId2"/>
                <a:stretch>
                  <a:fillRect l="-1688" t="-1643" r="-39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32235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aborazione 3">
            <a:extLst>
              <a:ext uri="{FF2B5EF4-FFF2-40B4-BE49-F238E27FC236}">
                <a16:creationId xmlns:a16="http://schemas.microsoft.com/office/drawing/2014/main" id="{EF8D087E-D2CD-42DF-812D-5A558AA7F525}"/>
              </a:ext>
            </a:extLst>
          </p:cNvPr>
          <p:cNvSpPr/>
          <p:nvPr/>
        </p:nvSpPr>
        <p:spPr>
          <a:xfrm>
            <a:off x="0" y="0"/>
            <a:ext cx="316089" cy="6858000"/>
          </a:xfrm>
          <a:prstGeom prst="flowChartProcess">
            <a:avLst/>
          </a:prstGeom>
          <a:solidFill>
            <a:srgbClr val="00792D"/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9597073-690D-45CE-B023-125DE0D53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325" y="438915"/>
            <a:ext cx="10998200" cy="615553"/>
          </a:xfrm>
        </p:spPr>
        <p:txBody>
          <a:bodyPr/>
          <a:lstStyle/>
          <a:p>
            <a:r>
              <a:rPr lang="it-IT" sz="4000" dirty="0">
                <a:solidFill>
                  <a:schemeClr val="tx1"/>
                </a:solidFill>
              </a:rPr>
              <a:t>Sorgenti dati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4DBC7F8-96D1-4083-82C0-64082993E3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9325" y="1147223"/>
            <a:ext cx="10998200" cy="5539978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it-IT" sz="2400" b="1" spc="-10" dirty="0">
                <a:latin typeface="Arial MT"/>
                <a:cs typeface="Arial MT"/>
              </a:rPr>
              <a:t>Flussi biciclette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it-IT" sz="2400" spc="-10" dirty="0">
                <a:latin typeface="Arial MT"/>
                <a:cs typeface="Arial MT"/>
              </a:rPr>
              <a:t>Formato CSV con separatore TAB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it-IT" sz="2400" spc="-10" dirty="0">
                <a:latin typeface="Arial MT"/>
                <a:cs typeface="Arial MT"/>
              </a:rPr>
              <a:t>Circa 350.000 record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it-IT" sz="2400" spc="-10" dirty="0">
                <a:latin typeface="Arial MT"/>
                <a:cs typeface="Arial MT"/>
              </a:rPr>
              <a:t>Open data Bologna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it-IT" sz="2400" b="1" spc="-10" dirty="0">
                <a:latin typeface="Arial MT"/>
                <a:cs typeface="Arial MT"/>
              </a:rPr>
              <a:t>Dati meteorologici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it-IT" sz="2400" spc="-10" dirty="0">
                <a:latin typeface="Arial MT"/>
                <a:cs typeface="Arial MT"/>
              </a:rPr>
              <a:t>Formato CSV con separatore virgola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it-IT" sz="2400" spc="-10" dirty="0">
                <a:latin typeface="Arial MT"/>
                <a:cs typeface="Arial MT"/>
              </a:rPr>
              <a:t>Circa 44.000 Record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it-IT" sz="2400" spc="-10" dirty="0">
                <a:latin typeface="Arial MT"/>
                <a:cs typeface="Arial MT"/>
              </a:rPr>
              <a:t>API Open-Meteo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it-IT" sz="2400" b="1" spc="-10" dirty="0">
                <a:latin typeface="Arial MT"/>
                <a:cs typeface="Arial MT"/>
              </a:rPr>
              <a:t>Quartieri di Bologna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it-IT" sz="2400" spc="-10" dirty="0">
                <a:latin typeface="Arial MT"/>
                <a:cs typeface="Arial MT"/>
              </a:rPr>
              <a:t>Formato </a:t>
            </a:r>
            <a:r>
              <a:rPr lang="it-IT" sz="2400" spc="-10" dirty="0" err="1">
                <a:latin typeface="Arial MT"/>
                <a:cs typeface="Arial MT"/>
              </a:rPr>
              <a:t>GeoJSON</a:t>
            </a:r>
            <a:endParaRPr lang="it-IT" sz="2400" spc="-10" dirty="0">
              <a:latin typeface="Arial MT"/>
              <a:cs typeface="Arial MT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it-IT" sz="2400" spc="-10" dirty="0">
                <a:latin typeface="Arial MT"/>
                <a:cs typeface="Arial MT"/>
              </a:rPr>
              <a:t>6 quartieri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it-IT" sz="2400" spc="-10" dirty="0">
                <a:latin typeface="Arial MT"/>
                <a:cs typeface="Arial MT"/>
              </a:rPr>
              <a:t>Open data Bologna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it-IT" spc="-10" dirty="0">
              <a:latin typeface="Arial MT"/>
              <a:cs typeface="Arial MT"/>
            </a:endParaRPr>
          </a:p>
          <a:p>
            <a:endParaRPr lang="it-IT" spc="-10" dirty="0">
              <a:latin typeface="Arial MT"/>
              <a:cs typeface="Arial MT"/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FF6BA297-8774-4EA1-B519-163C8CF71AF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065" r="7400"/>
          <a:stretch/>
        </p:blipFill>
        <p:spPr>
          <a:xfrm>
            <a:off x="7298871" y="1845130"/>
            <a:ext cx="4153804" cy="3584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011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aborazione 3">
            <a:extLst>
              <a:ext uri="{FF2B5EF4-FFF2-40B4-BE49-F238E27FC236}">
                <a16:creationId xmlns:a16="http://schemas.microsoft.com/office/drawing/2014/main" id="{EF8D087E-D2CD-42DF-812D-5A558AA7F525}"/>
              </a:ext>
            </a:extLst>
          </p:cNvPr>
          <p:cNvSpPr/>
          <p:nvPr/>
        </p:nvSpPr>
        <p:spPr>
          <a:xfrm>
            <a:off x="0" y="0"/>
            <a:ext cx="316089" cy="6858000"/>
          </a:xfrm>
          <a:prstGeom prst="flowChartProcess">
            <a:avLst/>
          </a:prstGeom>
          <a:solidFill>
            <a:srgbClr val="00792D"/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9597073-690D-45CE-B023-125DE0D53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943" y="517271"/>
            <a:ext cx="10784114" cy="615553"/>
          </a:xfrm>
        </p:spPr>
        <p:txBody>
          <a:bodyPr/>
          <a:lstStyle/>
          <a:p>
            <a:r>
              <a:rPr lang="it-IT" sz="4000" dirty="0">
                <a:solidFill>
                  <a:schemeClr val="tx1"/>
                </a:solidFill>
              </a:rPr>
              <a:t>Qualità dei dati e conflitti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4DBC7F8-96D1-4083-82C0-64082993E3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3943" y="1339068"/>
            <a:ext cx="11159672" cy="5416868"/>
          </a:xfrm>
        </p:spPr>
        <p:txBody>
          <a:bodyPr numCol="2"/>
          <a:lstStyle/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it-IT" sz="2400" b="1" spc="-10" dirty="0" err="1">
                <a:latin typeface="Arial MT"/>
                <a:cs typeface="Arial MT"/>
              </a:rPr>
              <a:t>Timestamp</a:t>
            </a:r>
            <a:r>
              <a:rPr lang="it-IT" sz="2400" spc="-10" dirty="0">
                <a:latin typeface="Arial MT"/>
                <a:cs typeface="Arial MT"/>
              </a:rPr>
              <a:t> non uniformi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it-IT" sz="2400" spc="-10" dirty="0">
                <a:latin typeface="Arial MT"/>
                <a:cs typeface="Arial MT"/>
              </a:rPr>
              <a:t>«data» con offset fuso orario         e «time» senza offset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it-IT" sz="2400" b="1" spc="-10" dirty="0">
                <a:latin typeface="Arial MT"/>
                <a:cs typeface="Arial MT"/>
              </a:rPr>
              <a:t>Codici meteo </a:t>
            </a:r>
            <a:r>
              <a:rPr lang="it-IT" sz="2400" spc="-10" dirty="0">
                <a:latin typeface="Arial MT"/>
                <a:cs typeface="Arial MT"/>
              </a:rPr>
              <a:t>poco interpretabili    per l’analisi dati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it-IT" sz="2400" b="1" spc="-10" dirty="0">
                <a:latin typeface="Arial MT"/>
                <a:cs typeface="Arial MT"/>
              </a:rPr>
              <a:t>Dati geografici complessi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it-IT" sz="2400" spc="-10" dirty="0">
                <a:latin typeface="Arial MT"/>
                <a:cs typeface="Arial MT"/>
              </a:rPr>
              <a:t>Colonnina rappresentata da un punto (longitudine, latitudine)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it-IT" sz="2400" spc="-10" dirty="0">
                <a:latin typeface="Arial MT"/>
                <a:cs typeface="Arial MT"/>
              </a:rPr>
              <a:t>Quartiere rappresentato da un poligono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it-IT" sz="2400" spc="-10" dirty="0">
                <a:latin typeface="Arial MT"/>
                <a:cs typeface="Arial MT"/>
              </a:rPr>
              <a:t>Il </a:t>
            </a:r>
            <a:r>
              <a:rPr lang="it-IT" sz="2400" b="1" spc="-10" dirty="0">
                <a:latin typeface="Arial MT"/>
                <a:cs typeface="Arial MT"/>
              </a:rPr>
              <a:t>campo area </a:t>
            </a:r>
            <a:r>
              <a:rPr lang="it-IT" sz="2400" spc="-10" dirty="0">
                <a:latin typeface="Arial MT"/>
                <a:cs typeface="Arial MT"/>
              </a:rPr>
              <a:t>nel JSON dei    quartieri sempre nullo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endParaRPr lang="it-IT" sz="2400" spc="-10" dirty="0">
              <a:latin typeface="Arial MT"/>
              <a:cs typeface="Arial MT"/>
            </a:endParaRPr>
          </a:p>
          <a:p>
            <a:pPr>
              <a:spcBef>
                <a:spcPts val="600"/>
              </a:spcBef>
            </a:pPr>
            <a:r>
              <a:rPr lang="it-IT" sz="2400" spc="-10" dirty="0">
                <a:latin typeface="Arial MT"/>
                <a:cs typeface="Arial MT"/>
              </a:rPr>
              <a:t>1.  Normalizzazione del </a:t>
            </a:r>
            <a:r>
              <a:rPr lang="it-IT" sz="2400" spc="-10" dirty="0" err="1">
                <a:latin typeface="Arial MT"/>
                <a:cs typeface="Arial MT"/>
              </a:rPr>
              <a:t>timestamp</a:t>
            </a:r>
            <a:r>
              <a:rPr lang="it-IT" sz="2400" spc="-10" dirty="0">
                <a:latin typeface="Arial MT"/>
                <a:cs typeface="Arial MT"/>
              </a:rPr>
              <a:t> in formato standard</a:t>
            </a:r>
          </a:p>
          <a:p>
            <a:pPr>
              <a:spcBef>
                <a:spcPts val="600"/>
              </a:spcBef>
            </a:pPr>
            <a:endParaRPr lang="it-IT" sz="2400" spc="-10" dirty="0">
              <a:latin typeface="Arial MT"/>
              <a:cs typeface="Arial MT"/>
            </a:endParaRPr>
          </a:p>
          <a:p>
            <a:pPr>
              <a:spcBef>
                <a:spcPts val="600"/>
              </a:spcBef>
            </a:pPr>
            <a:r>
              <a:rPr lang="it-IT" sz="2400" spc="-10" dirty="0">
                <a:latin typeface="Arial MT"/>
                <a:cs typeface="Arial MT"/>
              </a:rPr>
              <a:t>2.  Mappatura a descrizioni testuali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it-IT" sz="2400" spc="-10" dirty="0">
              <a:latin typeface="Arial MT"/>
              <a:cs typeface="Arial MT"/>
            </a:endParaRPr>
          </a:p>
          <a:p>
            <a:pPr>
              <a:spcBef>
                <a:spcPts val="600"/>
              </a:spcBef>
            </a:pPr>
            <a:r>
              <a:rPr lang="it-IT" sz="2400" spc="-10" dirty="0">
                <a:latin typeface="Arial MT"/>
                <a:cs typeface="Arial MT"/>
              </a:rPr>
              <a:t>3.  Join spaziale con controllo che il punto della colonnina sia dentro al poligono (</a:t>
            </a:r>
            <a:r>
              <a:rPr lang="it-IT" sz="2400" spc="-10" dirty="0" err="1">
                <a:latin typeface="Arial MT"/>
                <a:cs typeface="Arial MT"/>
              </a:rPr>
              <a:t>ST_Within</a:t>
            </a:r>
            <a:r>
              <a:rPr lang="it-IT" sz="2400" spc="-10" dirty="0">
                <a:latin typeface="Arial MT"/>
                <a:cs typeface="Arial MT"/>
              </a:rPr>
              <a:t>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it-IT" sz="2400" spc="-10" dirty="0">
              <a:latin typeface="Arial MT"/>
              <a:cs typeface="Arial MT"/>
            </a:endParaRPr>
          </a:p>
          <a:p>
            <a:pPr>
              <a:spcBef>
                <a:spcPts val="600"/>
              </a:spcBef>
            </a:pPr>
            <a:endParaRPr lang="it-IT" sz="2400" spc="-10" dirty="0">
              <a:latin typeface="Arial MT"/>
              <a:cs typeface="Arial MT"/>
            </a:endParaRPr>
          </a:p>
          <a:p>
            <a:r>
              <a:rPr lang="it-IT" sz="2400" spc="-10" dirty="0">
                <a:latin typeface="Arial MT"/>
                <a:cs typeface="Arial MT"/>
              </a:rPr>
              <a:t>4.  Calcolo geometrico partendo dal perimetro (</a:t>
            </a:r>
            <a:r>
              <a:rPr lang="it-IT" sz="2400" spc="-10" dirty="0" err="1">
                <a:latin typeface="Arial MT"/>
                <a:cs typeface="Arial MT"/>
              </a:rPr>
              <a:t>ST_Area</a:t>
            </a:r>
            <a:r>
              <a:rPr lang="it-IT" sz="2400" spc="-10" dirty="0">
                <a:latin typeface="Arial MT"/>
                <a:cs typeface="Arial MT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10765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aborazione 3">
            <a:extLst>
              <a:ext uri="{FF2B5EF4-FFF2-40B4-BE49-F238E27FC236}">
                <a16:creationId xmlns:a16="http://schemas.microsoft.com/office/drawing/2014/main" id="{EF8D087E-D2CD-42DF-812D-5A558AA7F525}"/>
              </a:ext>
            </a:extLst>
          </p:cNvPr>
          <p:cNvSpPr/>
          <p:nvPr/>
        </p:nvSpPr>
        <p:spPr>
          <a:xfrm>
            <a:off x="0" y="0"/>
            <a:ext cx="316089" cy="6858000"/>
          </a:xfrm>
          <a:prstGeom prst="flowChartProcess">
            <a:avLst/>
          </a:prstGeom>
          <a:solidFill>
            <a:srgbClr val="00792D"/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9597073-690D-45CE-B023-125DE0D53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900" y="618871"/>
            <a:ext cx="10998200" cy="615553"/>
          </a:xfrm>
        </p:spPr>
        <p:txBody>
          <a:bodyPr/>
          <a:lstStyle/>
          <a:p>
            <a:r>
              <a:rPr lang="it-IT" sz="4000" dirty="0">
                <a:solidFill>
                  <a:schemeClr val="tx1"/>
                </a:solidFill>
              </a:rPr>
              <a:t>Architettura del </a:t>
            </a:r>
            <a:r>
              <a:rPr lang="it-IT" sz="4000" dirty="0" err="1">
                <a:solidFill>
                  <a:schemeClr val="tx1"/>
                </a:solidFill>
              </a:rPr>
              <a:t>DataWarehouse</a:t>
            </a:r>
            <a:endParaRPr lang="it-IT" sz="4000" dirty="0">
              <a:solidFill>
                <a:schemeClr val="tx1"/>
              </a:solidFill>
            </a:endParaRP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4DBC7F8-96D1-4083-82C0-64082993E3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6900" y="1525002"/>
            <a:ext cx="11192329" cy="4594335"/>
          </a:xfrm>
        </p:spPr>
        <p:txBody>
          <a:bodyPr/>
          <a:lstStyle/>
          <a:p>
            <a:r>
              <a:rPr lang="it-IT" sz="2400" b="1" spc="-10" dirty="0">
                <a:latin typeface="Arial MT"/>
                <a:cs typeface="Arial MT"/>
              </a:rPr>
              <a:t>Approccio ELT: </a:t>
            </a:r>
            <a:r>
              <a:rPr lang="it-IT" sz="2400" spc="-10" dirty="0">
                <a:latin typeface="Arial MT"/>
                <a:cs typeface="Arial MT"/>
              </a:rPr>
              <a:t>caricando i dati grezzi, per sfruttare </a:t>
            </a:r>
            <a:r>
              <a:rPr lang="it-IT" sz="2400" spc="-10" dirty="0" err="1">
                <a:latin typeface="Arial MT"/>
                <a:cs typeface="Arial MT"/>
              </a:rPr>
              <a:t>DuckDB</a:t>
            </a:r>
            <a:r>
              <a:rPr lang="it-IT" sz="2400" spc="-10" dirty="0">
                <a:latin typeface="Arial MT"/>
                <a:cs typeface="Arial MT"/>
              </a:rPr>
              <a:t> per le trasformazioni</a:t>
            </a:r>
          </a:p>
          <a:p>
            <a:endParaRPr lang="it-IT" sz="2400" b="1" spc="-10" dirty="0">
              <a:latin typeface="Arial MT"/>
              <a:cs typeface="Arial MT"/>
            </a:endParaRPr>
          </a:p>
          <a:p>
            <a:pPr marL="457200" indent="-457200">
              <a:buFont typeface="+mj-lt"/>
              <a:buAutoNum type="arabicPeriod"/>
            </a:pPr>
            <a:r>
              <a:rPr lang="it-IT" sz="2400" b="1" spc="-10" dirty="0">
                <a:latin typeface="Arial MT"/>
                <a:cs typeface="Arial MT"/>
              </a:rPr>
              <a:t>Livello Sorgenti:  </a:t>
            </a:r>
            <a:r>
              <a:rPr lang="it-IT" sz="2400" spc="-10" dirty="0">
                <a:latin typeface="Arial MT"/>
                <a:cs typeface="Arial MT"/>
              </a:rPr>
              <a:t>dati esterni eterogenei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it-IT" sz="2400" spc="-10" dirty="0">
                <a:latin typeface="Arial MT"/>
                <a:cs typeface="Arial MT"/>
              </a:rPr>
              <a:t>API Open Data Bologna e Open-Meteo</a:t>
            </a:r>
          </a:p>
          <a:p>
            <a:pPr>
              <a:lnSpc>
                <a:spcPct val="150000"/>
              </a:lnSpc>
            </a:pPr>
            <a:r>
              <a:rPr lang="it-IT" sz="2400" b="1" spc="-10" dirty="0">
                <a:latin typeface="Arial MT"/>
                <a:cs typeface="Arial MT"/>
              </a:rPr>
              <a:t>2.  Livello di alimentazione: </a:t>
            </a:r>
            <a:r>
              <a:rPr lang="it-IT" sz="2400" spc="-10" dirty="0">
                <a:latin typeface="Arial MT"/>
                <a:cs typeface="Arial MT"/>
              </a:rPr>
              <a:t>Integrazione e riconciliazione dei dati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2400" spc="-10" dirty="0" err="1">
                <a:latin typeface="Arial MT"/>
                <a:cs typeface="Arial MT"/>
              </a:rPr>
              <a:t>Extract</a:t>
            </a:r>
            <a:r>
              <a:rPr lang="it-IT" sz="2400" spc="-10" dirty="0">
                <a:latin typeface="Arial MT"/>
                <a:cs typeface="Arial MT"/>
              </a:rPr>
              <a:t> &amp; </a:t>
            </a:r>
            <a:r>
              <a:rPr lang="it-IT" sz="2400" spc="-10" dirty="0" err="1">
                <a:latin typeface="Arial MT"/>
                <a:cs typeface="Arial MT"/>
              </a:rPr>
              <a:t>Load</a:t>
            </a:r>
            <a:r>
              <a:rPr lang="it-IT" sz="2400" spc="-10" dirty="0">
                <a:latin typeface="Arial MT"/>
                <a:cs typeface="Arial MT"/>
              </a:rPr>
              <a:t>: acquisizione dati e caricamento dei dati grezzi nel </a:t>
            </a:r>
            <a:r>
              <a:rPr lang="it-IT" sz="2400" spc="-10" dirty="0" err="1">
                <a:latin typeface="Arial MT"/>
                <a:cs typeface="Arial MT"/>
              </a:rPr>
              <a:t>Raw</a:t>
            </a:r>
            <a:r>
              <a:rPr lang="it-IT" sz="2400" spc="-10" dirty="0">
                <a:latin typeface="Arial MT"/>
                <a:cs typeface="Arial MT"/>
              </a:rPr>
              <a:t> </a:t>
            </a:r>
            <a:r>
              <a:rPr lang="it-IT" sz="2400" spc="-10" dirty="0" err="1">
                <a:latin typeface="Arial MT"/>
                <a:cs typeface="Arial MT"/>
              </a:rPr>
              <a:t>Layer</a:t>
            </a:r>
            <a:r>
              <a:rPr lang="it-IT" sz="2400" spc="-10" dirty="0">
                <a:latin typeface="Arial MT"/>
                <a:cs typeface="Arial MT"/>
              </a:rPr>
              <a:t> su </a:t>
            </a:r>
            <a:r>
              <a:rPr lang="it-IT" sz="2400" spc="-10" dirty="0" err="1">
                <a:latin typeface="Arial MT"/>
                <a:cs typeface="Arial MT"/>
              </a:rPr>
              <a:t>DuckDB</a:t>
            </a:r>
            <a:r>
              <a:rPr lang="it-IT" sz="2400" spc="-10" dirty="0">
                <a:latin typeface="Arial MT"/>
                <a:cs typeface="Arial MT"/>
              </a:rPr>
              <a:t> tramite script </a:t>
            </a:r>
            <a:r>
              <a:rPr lang="it-IT" sz="2400" spc="-10" dirty="0" err="1">
                <a:latin typeface="Arial MT"/>
                <a:cs typeface="Arial MT"/>
              </a:rPr>
              <a:t>Python</a:t>
            </a:r>
            <a:r>
              <a:rPr lang="it-IT" sz="2400" spc="-10" dirty="0">
                <a:latin typeface="Arial MT"/>
                <a:cs typeface="Arial MT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2400" spc="-10" dirty="0" err="1">
                <a:latin typeface="Arial MT"/>
                <a:cs typeface="Arial MT"/>
              </a:rPr>
              <a:t>Transform</a:t>
            </a:r>
            <a:r>
              <a:rPr lang="it-IT" sz="2400" spc="-10" dirty="0">
                <a:latin typeface="Arial MT"/>
                <a:cs typeface="Arial MT"/>
              </a:rPr>
              <a:t>: Pulizia, riconciliazione dei dati e costruzione dell’ODS tramite </a:t>
            </a:r>
            <a:r>
              <a:rPr lang="it-IT" sz="2400" spc="-10" dirty="0" err="1">
                <a:latin typeface="Arial MT"/>
                <a:cs typeface="Arial MT"/>
              </a:rPr>
              <a:t>dbt</a:t>
            </a:r>
            <a:r>
              <a:rPr lang="it-IT" sz="2400" spc="-10" dirty="0">
                <a:latin typeface="Arial MT"/>
                <a:cs typeface="Arial MT"/>
              </a:rPr>
              <a:t>. </a:t>
            </a:r>
          </a:p>
          <a:p>
            <a:pPr>
              <a:spcBef>
                <a:spcPts val="600"/>
              </a:spcBef>
            </a:pPr>
            <a:r>
              <a:rPr lang="it-IT" sz="2400" b="1" spc="-10" dirty="0">
                <a:latin typeface="Arial MT"/>
                <a:cs typeface="Arial MT"/>
              </a:rPr>
              <a:t>3.  Livello del warehouse: </a:t>
            </a:r>
            <a:r>
              <a:rPr lang="it-IT" sz="2400" spc="-10" dirty="0">
                <a:latin typeface="Arial MT"/>
                <a:cs typeface="Arial MT"/>
              </a:rPr>
              <a:t>generazione delle chiavi surrogate e caricamento incrementale dei Data </a:t>
            </a:r>
            <a:r>
              <a:rPr lang="it-IT" sz="2400" spc="-10" dirty="0" err="1">
                <a:latin typeface="Arial MT"/>
                <a:cs typeface="Arial MT"/>
              </a:rPr>
              <a:t>Mart</a:t>
            </a:r>
            <a:r>
              <a:rPr lang="it-IT" sz="2400" spc="-10" dirty="0">
                <a:latin typeface="Arial MT"/>
                <a:cs typeface="Arial MT"/>
              </a:rPr>
              <a:t> finali.</a:t>
            </a:r>
          </a:p>
          <a:p>
            <a:pPr>
              <a:spcBef>
                <a:spcPts val="1200"/>
              </a:spcBef>
            </a:pPr>
            <a:r>
              <a:rPr lang="it-IT" sz="2400" b="1" spc="-10" dirty="0">
                <a:latin typeface="Arial MT"/>
                <a:cs typeface="Arial MT"/>
              </a:rPr>
              <a:t>Livello di analisi: </a:t>
            </a:r>
            <a:r>
              <a:rPr lang="it-IT" sz="2400" spc="-10" dirty="0">
                <a:latin typeface="Arial MT"/>
                <a:cs typeface="Arial MT"/>
              </a:rPr>
              <a:t>Visualizzazione e analisi dei dati con l’utilizzo di Tableau Public.</a:t>
            </a:r>
          </a:p>
        </p:txBody>
      </p:sp>
    </p:spTree>
    <p:extLst>
      <p:ext uri="{BB962C8B-B14F-4D97-AF65-F5344CB8AC3E}">
        <p14:creationId xmlns:p14="http://schemas.microsoft.com/office/powerpoint/2010/main" val="14833535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aborazione 3">
            <a:extLst>
              <a:ext uri="{FF2B5EF4-FFF2-40B4-BE49-F238E27FC236}">
                <a16:creationId xmlns:a16="http://schemas.microsoft.com/office/drawing/2014/main" id="{EF8D087E-D2CD-42DF-812D-5A558AA7F525}"/>
              </a:ext>
            </a:extLst>
          </p:cNvPr>
          <p:cNvSpPr/>
          <p:nvPr/>
        </p:nvSpPr>
        <p:spPr>
          <a:xfrm>
            <a:off x="0" y="0"/>
            <a:ext cx="316089" cy="6858000"/>
          </a:xfrm>
          <a:prstGeom prst="flowChartProcess">
            <a:avLst/>
          </a:prstGeom>
          <a:solidFill>
            <a:srgbClr val="00792D"/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9597073-690D-45CE-B023-125DE0D53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943" y="618871"/>
            <a:ext cx="10784114" cy="615553"/>
          </a:xfrm>
        </p:spPr>
        <p:txBody>
          <a:bodyPr/>
          <a:lstStyle/>
          <a:p>
            <a:r>
              <a:rPr lang="it-IT" sz="4000" dirty="0">
                <a:solidFill>
                  <a:schemeClr val="tx1"/>
                </a:solidFill>
              </a:rPr>
              <a:t>Analisi del carico di lavoro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4DBC7F8-96D1-4083-82C0-64082993E3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0185" y="1513240"/>
            <a:ext cx="10727872" cy="738664"/>
          </a:xfrm>
        </p:spPr>
        <p:txBody>
          <a:bodyPr/>
          <a:lstStyle/>
          <a:p>
            <a:r>
              <a:rPr lang="it-IT" sz="2400" spc="-10" dirty="0">
                <a:latin typeface="Arial MT"/>
                <a:cs typeface="Arial MT"/>
              </a:rPr>
              <a:t>Il carico di lavoro è stato definito attraverso un insieme di</a:t>
            </a:r>
            <a:r>
              <a:rPr lang="it-IT" sz="2400" b="1" spc="-10" dirty="0">
                <a:latin typeface="Arial MT"/>
                <a:cs typeface="Arial MT"/>
              </a:rPr>
              <a:t> interrogazioni </a:t>
            </a:r>
            <a:r>
              <a:rPr lang="it-IT" sz="2400" spc="-10" dirty="0">
                <a:latin typeface="Arial MT"/>
                <a:cs typeface="Arial MT"/>
              </a:rPr>
              <a:t>in linguaggio naturale a cui il sistema deve essere in grado di rispondere. </a:t>
            </a:r>
          </a:p>
        </p:txBody>
      </p:sp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6C1AF226-9D02-451C-B859-9FC29072A6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9840373"/>
              </p:ext>
            </p:extLst>
          </p:nvPr>
        </p:nvGraphicFramePr>
        <p:xfrm>
          <a:off x="1694089" y="2764409"/>
          <a:ext cx="8803822" cy="34747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715000">
                  <a:extLst>
                    <a:ext uri="{9D8B030D-6E8A-4147-A177-3AD203B41FA5}">
                      <a16:colId xmlns:a16="http://schemas.microsoft.com/office/drawing/2014/main" val="1060015136"/>
                    </a:ext>
                  </a:extLst>
                </a:gridCol>
                <a:gridCol w="3088822">
                  <a:extLst>
                    <a:ext uri="{9D8B030D-6E8A-4147-A177-3AD203B41FA5}">
                      <a16:colId xmlns:a16="http://schemas.microsoft.com/office/drawing/2014/main" val="17076447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sz="2200" dirty="0">
                          <a:solidFill>
                            <a:schemeClr val="tx1"/>
                          </a:solidFill>
                        </a:rPr>
                        <a:t>Interrogazione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200" dirty="0">
                          <a:solidFill>
                            <a:schemeClr val="tx1"/>
                          </a:solidFill>
                        </a:rPr>
                        <a:t>Dimensioni coinvolte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86142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2200" dirty="0"/>
                        <a:t>Qual è l’andamento del traffico ciclabile</a:t>
                      </a:r>
                    </a:p>
                    <a:p>
                      <a:r>
                        <a:rPr lang="it-IT" sz="2200" dirty="0"/>
                        <a:t>totale per ogni mese dell’anno?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200" dirty="0"/>
                        <a:t>Dimensione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6199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2200" dirty="0"/>
                        <a:t>Qual è il quartiere della città con il maggior</a:t>
                      </a:r>
                    </a:p>
                    <a:p>
                      <a:r>
                        <a:rPr lang="it-IT" sz="2200" dirty="0"/>
                        <a:t>volume di passaggi?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200" dirty="0"/>
                        <a:t>Dimensione Quartiere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497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2200" dirty="0"/>
                        <a:t>Quali sono le ore di punta in cui si registrano</a:t>
                      </a:r>
                    </a:p>
                    <a:p>
                      <a:r>
                        <a:rPr lang="it-IT" sz="2200" dirty="0"/>
                        <a:t>più passaggi?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200" dirty="0"/>
                        <a:t>Dimensione Ora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335371"/>
                  </a:ext>
                </a:extLst>
              </a:tr>
              <a:tr h="420751">
                <a:tc>
                  <a:txBody>
                    <a:bodyPr/>
                    <a:lstStyle/>
                    <a:p>
                      <a:r>
                        <a:rPr lang="it-IT" sz="2200" dirty="0"/>
                        <a:t>Come varia l’utilizzo della bici in caso di</a:t>
                      </a:r>
                    </a:p>
                    <a:p>
                      <a:r>
                        <a:rPr lang="it-IT" sz="2200" dirty="0"/>
                        <a:t>pioggia rispetto al tempo sereno?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200" dirty="0"/>
                        <a:t>Dimensione Meteo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90698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3295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magine 7">
            <a:extLst>
              <a:ext uri="{FF2B5EF4-FFF2-40B4-BE49-F238E27FC236}">
                <a16:creationId xmlns:a16="http://schemas.microsoft.com/office/drawing/2014/main" id="{31828D07-07AD-4D4E-8C76-7382F9C783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7415" y="1086636"/>
            <a:ext cx="6157686" cy="3392073"/>
          </a:xfrm>
          <a:prstGeom prst="rect">
            <a:avLst/>
          </a:prstGeom>
        </p:spPr>
      </p:pic>
      <p:sp>
        <p:nvSpPr>
          <p:cNvPr id="4" name="Elaborazione 3">
            <a:extLst>
              <a:ext uri="{FF2B5EF4-FFF2-40B4-BE49-F238E27FC236}">
                <a16:creationId xmlns:a16="http://schemas.microsoft.com/office/drawing/2014/main" id="{EF8D087E-D2CD-42DF-812D-5A558AA7F525}"/>
              </a:ext>
            </a:extLst>
          </p:cNvPr>
          <p:cNvSpPr/>
          <p:nvPr/>
        </p:nvSpPr>
        <p:spPr>
          <a:xfrm>
            <a:off x="0" y="0"/>
            <a:ext cx="316089" cy="6858000"/>
          </a:xfrm>
          <a:prstGeom prst="flowChartProcess">
            <a:avLst/>
          </a:prstGeom>
          <a:solidFill>
            <a:srgbClr val="00792D"/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9597073-690D-45CE-B023-125DE0D53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900" y="471913"/>
            <a:ext cx="10998200" cy="615553"/>
          </a:xfrm>
        </p:spPr>
        <p:txBody>
          <a:bodyPr/>
          <a:lstStyle/>
          <a:p>
            <a:r>
              <a:rPr lang="it-IT" sz="4000" dirty="0">
                <a:solidFill>
                  <a:schemeClr val="tx1"/>
                </a:solidFill>
              </a:rPr>
              <a:t>Progettazione Concettuale (DFM)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4DBC7F8-96D1-4083-82C0-64082993E3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7529" y="1302844"/>
            <a:ext cx="6963228" cy="3901068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it-IT" sz="2400" b="1" spc="-10" dirty="0">
                <a:latin typeface="Arial MT"/>
                <a:cs typeface="Arial MT"/>
              </a:rPr>
              <a:t>Fatto</a:t>
            </a:r>
            <a:r>
              <a:rPr lang="it-IT" sz="2400" b="1" spc="-10">
                <a:latin typeface="Arial MT"/>
                <a:cs typeface="Arial MT"/>
              </a:rPr>
              <a:t>: </a:t>
            </a:r>
            <a:r>
              <a:rPr lang="it-IT" sz="2400" spc="-10">
                <a:latin typeface="Arial MT"/>
                <a:cs typeface="Arial MT"/>
              </a:rPr>
              <a:t>Rilevazione oraria </a:t>
            </a:r>
            <a:r>
              <a:rPr lang="it-IT" sz="2400" spc="-10" dirty="0">
                <a:latin typeface="Arial MT"/>
                <a:cs typeface="Arial MT"/>
              </a:rPr>
              <a:t>per colonnina. </a:t>
            </a:r>
          </a:p>
          <a:p>
            <a:pPr>
              <a:spcBef>
                <a:spcPts val="700"/>
              </a:spcBef>
            </a:pPr>
            <a:r>
              <a:rPr lang="it-IT" sz="2400" b="1" spc="-10" dirty="0">
                <a:latin typeface="Arial MT"/>
                <a:cs typeface="Arial MT"/>
              </a:rPr>
              <a:t>Misure: 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it-IT" sz="2400" spc="-10" dirty="0">
                <a:latin typeface="Arial MT"/>
                <a:cs typeface="Arial MT"/>
              </a:rPr>
              <a:t>Passaggi direzione centro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it-IT" sz="2400" spc="-10" dirty="0">
                <a:latin typeface="Arial MT"/>
                <a:cs typeface="Arial MT"/>
              </a:rPr>
              <a:t>Passaggi direzioni periferia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it-IT" sz="2400" spc="-10" dirty="0">
                <a:latin typeface="Arial MT"/>
                <a:cs typeface="Arial MT"/>
              </a:rPr>
              <a:t>Conteggio totale dei passaggi</a:t>
            </a:r>
          </a:p>
          <a:p>
            <a:pPr>
              <a:spcBef>
                <a:spcPts val="1400"/>
              </a:spcBef>
            </a:pPr>
            <a:r>
              <a:rPr lang="it-IT" sz="2400" b="1" spc="-10" dirty="0">
                <a:latin typeface="Arial MT"/>
                <a:cs typeface="Arial MT"/>
              </a:rPr>
              <a:t>Dimensioni: 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it-IT" sz="2400" dirty="0">
                <a:latin typeface="Arial MT"/>
              </a:rPr>
              <a:t>Oraria: Per identificare le ore di punta</a:t>
            </a:r>
          </a:p>
          <a:p>
            <a:endParaRPr lang="it-IT" sz="2400" spc="-10" dirty="0">
              <a:latin typeface="Arial MT"/>
              <a:cs typeface="Arial MT"/>
            </a:endParaRPr>
          </a:p>
          <a:p>
            <a:endParaRPr lang="it-IT" sz="2400" spc="-10" dirty="0">
              <a:latin typeface="Arial MT"/>
              <a:cs typeface="Arial MT"/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FAE6FD56-7C4C-4D52-B530-7E19C41B8F9C}"/>
              </a:ext>
            </a:extLst>
          </p:cNvPr>
          <p:cNvSpPr txBox="1"/>
          <p:nvPr/>
        </p:nvSpPr>
        <p:spPr>
          <a:xfrm>
            <a:off x="596900" y="4506219"/>
            <a:ext cx="11345131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it-IT" sz="2400" spc="-10" dirty="0">
                <a:latin typeface="Arial MT"/>
                <a:cs typeface="Arial MT"/>
              </a:rPr>
              <a:t>Temporale: Per analizzare la stagionalità dei flussi e il comportamento nei giorni feriali rispetto ai festivi/weekend</a:t>
            </a:r>
            <a:endParaRPr lang="it-IT" sz="2400" dirty="0">
              <a:latin typeface="Arial MT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it-IT" sz="2400" dirty="0">
                <a:latin typeface="Arial MT"/>
              </a:rPr>
              <a:t>Meteorologica: Per valutare quanto il clima influenzi l’utilizzo della bicicletta.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it-IT" sz="2400" dirty="0">
                <a:latin typeface="Arial MT"/>
              </a:rPr>
              <a:t>Spaziale: Per aggregare i dati in base all’area geografica  </a:t>
            </a:r>
          </a:p>
        </p:txBody>
      </p:sp>
    </p:spTree>
    <p:extLst>
      <p:ext uri="{BB962C8B-B14F-4D97-AF65-F5344CB8AC3E}">
        <p14:creationId xmlns:p14="http://schemas.microsoft.com/office/powerpoint/2010/main" val="5540144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>
            <a:extLst>
              <a:ext uri="{FF2B5EF4-FFF2-40B4-BE49-F238E27FC236}">
                <a16:creationId xmlns:a16="http://schemas.microsoft.com/office/drawing/2014/main" id="{708B33EA-0C64-417A-9CA4-E6C9C896D9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4006" y="1032003"/>
            <a:ext cx="5211905" cy="5004705"/>
          </a:xfrm>
          <a:prstGeom prst="rect">
            <a:avLst/>
          </a:prstGeom>
        </p:spPr>
      </p:pic>
      <p:sp>
        <p:nvSpPr>
          <p:cNvPr id="4" name="Elaborazione 3">
            <a:extLst>
              <a:ext uri="{FF2B5EF4-FFF2-40B4-BE49-F238E27FC236}">
                <a16:creationId xmlns:a16="http://schemas.microsoft.com/office/drawing/2014/main" id="{EF8D087E-D2CD-42DF-812D-5A558AA7F525}"/>
              </a:ext>
            </a:extLst>
          </p:cNvPr>
          <p:cNvSpPr/>
          <p:nvPr/>
        </p:nvSpPr>
        <p:spPr>
          <a:xfrm>
            <a:off x="0" y="0"/>
            <a:ext cx="316089" cy="6858000"/>
          </a:xfrm>
          <a:prstGeom prst="flowChartProcess">
            <a:avLst/>
          </a:prstGeom>
          <a:solidFill>
            <a:srgbClr val="00792D"/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9597073-690D-45CE-B023-125DE0D53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900" y="416450"/>
            <a:ext cx="10998200" cy="615553"/>
          </a:xfrm>
        </p:spPr>
        <p:txBody>
          <a:bodyPr/>
          <a:lstStyle/>
          <a:p>
            <a:r>
              <a:rPr lang="it-IT" sz="4000" dirty="0">
                <a:solidFill>
                  <a:schemeClr val="tx1"/>
                </a:solidFill>
              </a:rPr>
              <a:t>Schema logico e scelte implementative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4DBC7F8-96D1-4083-82C0-64082993E3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6900" y="1262093"/>
            <a:ext cx="6195786" cy="4924425"/>
          </a:xfrm>
        </p:spPr>
        <p:txBody>
          <a:bodyPr/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it-IT" sz="2400" spc="-10" dirty="0">
                <a:latin typeface="Arial MT"/>
                <a:cs typeface="Arial MT"/>
              </a:rPr>
              <a:t>Traduzione del modello concettuale in uno </a:t>
            </a:r>
            <a:r>
              <a:rPr lang="it-IT" sz="2400" b="1" spc="-10" dirty="0" err="1">
                <a:latin typeface="Arial MT"/>
                <a:cs typeface="Arial MT"/>
              </a:rPr>
              <a:t>Snowflake</a:t>
            </a:r>
            <a:r>
              <a:rPr lang="it-IT" sz="2400" b="1" spc="-10" dirty="0">
                <a:latin typeface="Arial MT"/>
                <a:cs typeface="Arial MT"/>
              </a:rPr>
              <a:t> Schema</a:t>
            </a:r>
            <a:r>
              <a:rPr lang="it-IT" sz="2400" spc="-10" dirty="0">
                <a:latin typeface="Arial MT"/>
                <a:cs typeface="Arial MT"/>
              </a:rPr>
              <a:t>. 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it-IT" sz="2400" spc="-10" dirty="0">
                <a:latin typeface="Arial MT"/>
                <a:cs typeface="Arial MT"/>
              </a:rPr>
              <a:t>Normalizzazione delle tabelle colonnina e quartiere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it-IT" sz="2200" spc="-10" dirty="0">
                <a:latin typeface="Arial MT"/>
                <a:cs typeface="Arial MT"/>
              </a:rPr>
              <a:t>Motivo: Evitare la ridondanza dei dati  geometrici in memorizzazione.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it-IT" sz="2400" b="1" spc="-10" dirty="0">
                <a:latin typeface="Arial MT"/>
                <a:cs typeface="Arial MT"/>
              </a:rPr>
              <a:t>Gestione dello storico: </a:t>
            </a:r>
            <a:r>
              <a:rPr lang="it-IT" sz="2400" spc="-10" dirty="0">
                <a:latin typeface="Arial MT"/>
                <a:cs typeface="Arial MT"/>
              </a:rPr>
              <a:t>le dimensioni soggette a cambiamenti sono colonnina e quartiere. Viene adottato SCD tipo 1.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it-IT" sz="2200" spc="-10" dirty="0">
                <a:latin typeface="Arial MT"/>
                <a:cs typeface="Arial MT"/>
              </a:rPr>
              <a:t>Motivo: la frequenza di spostamento delle colonnine o la ridefinizione dei confini è trascurabile e l’obiettivo è supportare le decisioni sulla configurazione attuale</a:t>
            </a:r>
          </a:p>
        </p:txBody>
      </p:sp>
    </p:spTree>
    <p:extLst>
      <p:ext uri="{BB962C8B-B14F-4D97-AF65-F5344CB8AC3E}">
        <p14:creationId xmlns:p14="http://schemas.microsoft.com/office/powerpoint/2010/main" val="41767875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aborazione 3">
            <a:extLst>
              <a:ext uri="{FF2B5EF4-FFF2-40B4-BE49-F238E27FC236}">
                <a16:creationId xmlns:a16="http://schemas.microsoft.com/office/drawing/2014/main" id="{EF8D087E-D2CD-42DF-812D-5A558AA7F525}"/>
              </a:ext>
            </a:extLst>
          </p:cNvPr>
          <p:cNvSpPr/>
          <p:nvPr/>
        </p:nvSpPr>
        <p:spPr>
          <a:xfrm>
            <a:off x="0" y="0"/>
            <a:ext cx="316089" cy="6858000"/>
          </a:xfrm>
          <a:prstGeom prst="flowChartProcess">
            <a:avLst/>
          </a:prstGeom>
          <a:solidFill>
            <a:srgbClr val="00792D"/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9597073-690D-45CE-B023-125DE0D53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900" y="416450"/>
            <a:ext cx="10998200" cy="615553"/>
          </a:xfrm>
        </p:spPr>
        <p:txBody>
          <a:bodyPr/>
          <a:lstStyle/>
          <a:p>
            <a:r>
              <a:rPr lang="it-IT" sz="4000" dirty="0">
                <a:solidFill>
                  <a:schemeClr val="tx1"/>
                </a:solidFill>
              </a:rPr>
              <a:t>Pipeline ELT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4DBC7F8-96D1-4083-82C0-64082993E3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6900" y="1262093"/>
            <a:ext cx="10998200" cy="5109091"/>
          </a:xfrm>
        </p:spPr>
        <p:txBody>
          <a:bodyPr/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it-IT" sz="2400" b="1" spc="-10" dirty="0">
                <a:latin typeface="Arial MT"/>
                <a:cs typeface="Arial MT"/>
              </a:rPr>
              <a:t>Extractor.py: 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it-IT" sz="2200" spc="-10" dirty="0">
                <a:latin typeface="Arial MT"/>
                <a:cs typeface="Arial MT"/>
              </a:rPr>
              <a:t>Chiamata API verso </a:t>
            </a:r>
            <a:r>
              <a:rPr lang="it-IT" sz="2200" spc="-10" dirty="0" err="1">
                <a:latin typeface="Arial MT"/>
                <a:cs typeface="Arial MT"/>
              </a:rPr>
              <a:t>OpenData</a:t>
            </a:r>
            <a:r>
              <a:rPr lang="it-IT" sz="2200" spc="-10" dirty="0">
                <a:latin typeface="Arial MT"/>
                <a:cs typeface="Arial MT"/>
              </a:rPr>
              <a:t> Bologna e verso Open-Meteo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it-IT" sz="2200" spc="-10" dirty="0">
                <a:latin typeface="Arial MT"/>
                <a:cs typeface="Arial MT"/>
              </a:rPr>
              <a:t>Salvataggio dei dati grezzi sul disco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it-IT" sz="2400" b="1" spc="-10" dirty="0">
                <a:latin typeface="Arial MT"/>
                <a:cs typeface="Arial MT"/>
              </a:rPr>
              <a:t>Loader.py: 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it-IT" sz="2200" spc="-10" dirty="0">
                <a:latin typeface="Arial MT"/>
                <a:cs typeface="Arial MT"/>
              </a:rPr>
              <a:t>Caricamento dei dati in </a:t>
            </a:r>
            <a:r>
              <a:rPr lang="it-IT" sz="2200" spc="-10" dirty="0" err="1">
                <a:latin typeface="Arial MT"/>
                <a:cs typeface="Arial MT"/>
              </a:rPr>
              <a:t>DuckDB</a:t>
            </a:r>
            <a:r>
              <a:rPr lang="it-IT" sz="2200" spc="-10" dirty="0">
                <a:latin typeface="Arial MT"/>
                <a:cs typeface="Arial MT"/>
              </a:rPr>
              <a:t> utilizzando </a:t>
            </a:r>
            <a:r>
              <a:rPr lang="it-IT" sz="2200" i="1" spc="-10" dirty="0" err="1">
                <a:latin typeface="Arial MT"/>
                <a:cs typeface="Arial MT"/>
              </a:rPr>
              <a:t>read_csv_auto</a:t>
            </a:r>
            <a:r>
              <a:rPr lang="it-IT" sz="2200" i="1" spc="-10" dirty="0">
                <a:latin typeface="Arial MT"/>
                <a:cs typeface="Arial MT"/>
              </a:rPr>
              <a:t>() </a:t>
            </a:r>
            <a:r>
              <a:rPr lang="it-IT" sz="2200" spc="-10" dirty="0">
                <a:latin typeface="Arial MT"/>
                <a:cs typeface="Arial MT"/>
              </a:rPr>
              <a:t>per i CSV e </a:t>
            </a:r>
            <a:r>
              <a:rPr lang="it-IT" sz="2200" i="1" spc="-10" dirty="0" err="1">
                <a:latin typeface="Arial MT"/>
                <a:cs typeface="Arial MT"/>
              </a:rPr>
              <a:t>read_json_auto</a:t>
            </a:r>
            <a:r>
              <a:rPr lang="it-IT" sz="2200" i="1" spc="-10" dirty="0">
                <a:latin typeface="Arial MT"/>
                <a:cs typeface="Arial MT"/>
              </a:rPr>
              <a:t>() </a:t>
            </a:r>
            <a:r>
              <a:rPr lang="it-IT" sz="2200" spc="-10" dirty="0">
                <a:latin typeface="Arial MT"/>
                <a:cs typeface="Arial MT"/>
              </a:rPr>
              <a:t>per JSON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it-IT" sz="2200" spc="-10" dirty="0">
                <a:latin typeface="Arial MT"/>
                <a:cs typeface="Arial MT"/>
              </a:rPr>
              <a:t>Tabelle </a:t>
            </a:r>
            <a:r>
              <a:rPr lang="it-IT" sz="2200" spc="-10" dirty="0" err="1">
                <a:latin typeface="Arial MT"/>
                <a:cs typeface="Arial MT"/>
              </a:rPr>
              <a:t>raw</a:t>
            </a:r>
            <a:r>
              <a:rPr lang="it-IT" sz="2200" spc="-10" dirty="0">
                <a:latin typeface="Arial MT"/>
                <a:cs typeface="Arial MT"/>
              </a:rPr>
              <a:t> create: </a:t>
            </a:r>
            <a:r>
              <a:rPr lang="it-IT" sz="2200" spc="-10" dirty="0" err="1">
                <a:latin typeface="Arial MT"/>
                <a:cs typeface="Arial MT"/>
              </a:rPr>
              <a:t>raw_colonnine</a:t>
            </a:r>
            <a:r>
              <a:rPr lang="it-IT" sz="2200" spc="-10" dirty="0">
                <a:latin typeface="Arial MT"/>
                <a:cs typeface="Arial MT"/>
              </a:rPr>
              <a:t>, </a:t>
            </a:r>
            <a:r>
              <a:rPr lang="it-IT" sz="2200" spc="-10" dirty="0" err="1">
                <a:latin typeface="Arial MT"/>
                <a:cs typeface="Arial MT"/>
              </a:rPr>
              <a:t>raw_quartieri</a:t>
            </a:r>
            <a:r>
              <a:rPr lang="it-IT" sz="2200" spc="-10" dirty="0">
                <a:latin typeface="Arial MT"/>
                <a:cs typeface="Arial MT"/>
              </a:rPr>
              <a:t>, </a:t>
            </a:r>
            <a:r>
              <a:rPr lang="it-IT" sz="2200" spc="-10" dirty="0" err="1">
                <a:latin typeface="Arial MT"/>
                <a:cs typeface="Arial MT"/>
              </a:rPr>
              <a:t>raw_meteo</a:t>
            </a:r>
            <a:endParaRPr lang="it-IT" sz="2200" spc="-10" dirty="0">
              <a:latin typeface="Arial MT"/>
              <a:cs typeface="Arial MT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it-IT" sz="2400" b="1" spc="-10" dirty="0">
                <a:latin typeface="Arial MT"/>
                <a:cs typeface="Arial MT"/>
              </a:rPr>
              <a:t>Trasformazione ODS con </a:t>
            </a:r>
            <a:r>
              <a:rPr lang="it-IT" sz="2400" b="1" spc="-10" dirty="0" err="1">
                <a:latin typeface="Arial MT"/>
                <a:cs typeface="Arial MT"/>
              </a:rPr>
              <a:t>dbt</a:t>
            </a:r>
            <a:endParaRPr lang="it-IT" sz="2400" b="1" spc="-10" dirty="0">
              <a:latin typeface="Arial MT"/>
              <a:cs typeface="Arial MT"/>
            </a:endParaRP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it-IT" sz="2200" i="1" spc="-10" dirty="0" err="1">
                <a:latin typeface="Arial MT"/>
                <a:cs typeface="Arial MT"/>
              </a:rPr>
              <a:t>ods_x_transform.sql</a:t>
            </a:r>
            <a:r>
              <a:rPr lang="it-IT" sz="2200" i="1" spc="-10" dirty="0">
                <a:latin typeface="Arial MT"/>
                <a:cs typeface="Arial MT"/>
              </a:rPr>
              <a:t> (</a:t>
            </a:r>
            <a:r>
              <a:rPr lang="it-IT" sz="2200" i="1" spc="-10" dirty="0" err="1">
                <a:latin typeface="Arial MT"/>
                <a:cs typeface="Arial MT"/>
              </a:rPr>
              <a:t>materialized</a:t>
            </a:r>
            <a:r>
              <a:rPr lang="it-IT" sz="2200" i="1" spc="-10" dirty="0">
                <a:latin typeface="Arial MT"/>
                <a:cs typeface="Arial MT"/>
              </a:rPr>
              <a:t>=‘</a:t>
            </a:r>
            <a:r>
              <a:rPr lang="it-IT" sz="2200" i="1" spc="-10" dirty="0" err="1">
                <a:latin typeface="Arial MT"/>
                <a:cs typeface="Arial MT"/>
              </a:rPr>
              <a:t>ephemeral</a:t>
            </a:r>
            <a:r>
              <a:rPr lang="it-IT" sz="2200" i="1" spc="-10" dirty="0">
                <a:latin typeface="Arial MT"/>
                <a:cs typeface="Arial MT"/>
              </a:rPr>
              <a:t>’): </a:t>
            </a:r>
            <a:r>
              <a:rPr lang="it-IT" sz="2200" spc="-10" dirty="0">
                <a:latin typeface="Arial MT"/>
                <a:cs typeface="Arial MT"/>
              </a:rPr>
              <a:t>Pulisce i dati, come il cast dei valori e il </a:t>
            </a:r>
            <a:r>
              <a:rPr lang="it-IT" sz="2200" spc="-10" dirty="0" err="1">
                <a:latin typeface="Arial MT"/>
                <a:cs typeface="Arial MT"/>
              </a:rPr>
              <a:t>parsing</a:t>
            </a:r>
            <a:r>
              <a:rPr lang="it-IT" sz="2200" spc="-10" dirty="0">
                <a:latin typeface="Arial MT"/>
                <a:cs typeface="Arial MT"/>
              </a:rPr>
              <a:t> del </a:t>
            </a:r>
            <a:r>
              <a:rPr lang="it-IT" sz="2200" spc="-10" dirty="0" err="1">
                <a:latin typeface="Arial MT"/>
                <a:cs typeface="Arial MT"/>
              </a:rPr>
              <a:t>timestamp</a:t>
            </a:r>
            <a:r>
              <a:rPr lang="it-IT" sz="2200" spc="-10" dirty="0">
                <a:latin typeface="Arial MT"/>
                <a:cs typeface="Arial MT"/>
              </a:rPr>
              <a:t>. Aggiunge </a:t>
            </a:r>
            <a:r>
              <a:rPr lang="it-IT" sz="2200" spc="-10" dirty="0" err="1">
                <a:latin typeface="Arial MT"/>
                <a:cs typeface="Arial MT"/>
              </a:rPr>
              <a:t>insert_time</a:t>
            </a:r>
            <a:r>
              <a:rPr lang="it-IT" sz="2200" spc="-10" dirty="0">
                <a:latin typeface="Arial MT"/>
                <a:cs typeface="Arial MT"/>
              </a:rPr>
              <a:t> e </a:t>
            </a:r>
            <a:r>
              <a:rPr lang="it-IT" sz="2200" spc="-10" dirty="0" err="1">
                <a:latin typeface="Arial MT"/>
                <a:cs typeface="Arial MT"/>
              </a:rPr>
              <a:t>update_time</a:t>
            </a:r>
            <a:r>
              <a:rPr lang="it-IT" sz="2200" spc="-10" dirty="0">
                <a:latin typeface="Arial MT"/>
                <a:cs typeface="Arial MT"/>
              </a:rPr>
              <a:t> usando </a:t>
            </a:r>
            <a:r>
              <a:rPr lang="it-IT" sz="2200" spc="-10" dirty="0" err="1">
                <a:latin typeface="Arial MT"/>
                <a:cs typeface="Arial MT"/>
              </a:rPr>
              <a:t>current_timestamp</a:t>
            </a:r>
            <a:endParaRPr lang="it-IT" sz="2200" spc="-10" dirty="0">
              <a:latin typeface="Arial MT"/>
              <a:cs typeface="Arial MT"/>
            </a:endParaRP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it-IT" sz="2200" i="1" spc="-10" dirty="0" err="1">
                <a:latin typeface="Arial MT"/>
                <a:cs typeface="Arial MT"/>
              </a:rPr>
              <a:t>ods_x.sql</a:t>
            </a:r>
            <a:r>
              <a:rPr lang="it-IT" sz="2200" i="1" spc="-10" dirty="0">
                <a:latin typeface="Arial MT"/>
                <a:cs typeface="Arial MT"/>
              </a:rPr>
              <a:t> (</a:t>
            </a:r>
            <a:r>
              <a:rPr lang="it-IT" sz="2200" i="1" spc="-10" dirty="0" err="1">
                <a:latin typeface="Arial MT"/>
                <a:cs typeface="Arial MT"/>
              </a:rPr>
              <a:t>materialized</a:t>
            </a:r>
            <a:r>
              <a:rPr lang="it-IT" sz="2200" i="1" spc="-10" dirty="0">
                <a:latin typeface="Arial MT"/>
                <a:cs typeface="Arial MT"/>
              </a:rPr>
              <a:t>=‘</a:t>
            </a:r>
            <a:r>
              <a:rPr lang="it-IT" sz="2200" i="1" spc="-10" dirty="0" err="1">
                <a:latin typeface="Arial MT"/>
                <a:cs typeface="Arial MT"/>
              </a:rPr>
              <a:t>incremental</a:t>
            </a:r>
            <a:r>
              <a:rPr lang="it-IT" sz="2200" i="1" spc="-10" dirty="0">
                <a:latin typeface="Arial MT"/>
                <a:cs typeface="Arial MT"/>
              </a:rPr>
              <a:t>’): </a:t>
            </a:r>
            <a:r>
              <a:rPr lang="it-IT" sz="2200" spc="-10" dirty="0">
                <a:latin typeface="Arial MT"/>
                <a:cs typeface="Arial MT"/>
              </a:rPr>
              <a:t>materializza la tabella finale applicando la logica incrementale, filtrando quindi i nuovi record.</a:t>
            </a:r>
          </a:p>
        </p:txBody>
      </p:sp>
    </p:spTree>
    <p:extLst>
      <p:ext uri="{BB962C8B-B14F-4D97-AF65-F5344CB8AC3E}">
        <p14:creationId xmlns:p14="http://schemas.microsoft.com/office/powerpoint/2010/main" val="2354881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aborazione 3">
            <a:extLst>
              <a:ext uri="{FF2B5EF4-FFF2-40B4-BE49-F238E27FC236}">
                <a16:creationId xmlns:a16="http://schemas.microsoft.com/office/drawing/2014/main" id="{EF8D087E-D2CD-42DF-812D-5A558AA7F525}"/>
              </a:ext>
            </a:extLst>
          </p:cNvPr>
          <p:cNvSpPr/>
          <p:nvPr/>
        </p:nvSpPr>
        <p:spPr>
          <a:xfrm>
            <a:off x="0" y="0"/>
            <a:ext cx="316089" cy="6858000"/>
          </a:xfrm>
          <a:prstGeom prst="flowChartProcess">
            <a:avLst/>
          </a:prstGeom>
          <a:solidFill>
            <a:srgbClr val="00792D"/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9597073-690D-45CE-B023-125DE0D53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900" y="416450"/>
            <a:ext cx="10998200" cy="615553"/>
          </a:xfrm>
        </p:spPr>
        <p:txBody>
          <a:bodyPr/>
          <a:lstStyle/>
          <a:p>
            <a:r>
              <a:rPr lang="it-IT" sz="4000" dirty="0">
                <a:solidFill>
                  <a:schemeClr val="tx1"/>
                </a:solidFill>
              </a:rPr>
              <a:t>Pipeline ELT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4DBC7F8-96D1-4083-82C0-64082993E3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6900" y="1262093"/>
            <a:ext cx="10998200" cy="5616922"/>
          </a:xfrm>
        </p:spPr>
        <p:txBody>
          <a:bodyPr/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it-IT" sz="2400" b="1" spc="-10" dirty="0">
                <a:latin typeface="Arial MT"/>
                <a:cs typeface="Arial MT"/>
              </a:rPr>
              <a:t>Alimentazione Data </a:t>
            </a:r>
            <a:r>
              <a:rPr lang="it-IT" sz="2400" b="1" spc="-10" dirty="0" err="1">
                <a:latin typeface="Arial MT"/>
                <a:cs typeface="Arial MT"/>
              </a:rPr>
              <a:t>Mart</a:t>
            </a:r>
            <a:r>
              <a:rPr lang="it-IT" sz="2400" b="1" spc="-10" dirty="0">
                <a:latin typeface="Arial MT"/>
                <a:cs typeface="Arial MT"/>
              </a:rPr>
              <a:t>: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it-IT" sz="2400" spc="-10" dirty="0">
                <a:latin typeface="Arial MT"/>
                <a:cs typeface="Arial MT"/>
              </a:rPr>
              <a:t>Si vogliono generare chiavi surrogate (SK) e gestire le foreign </a:t>
            </a:r>
            <a:r>
              <a:rPr lang="it-IT" sz="2400" spc="-10" dirty="0" err="1">
                <a:latin typeface="Arial MT"/>
                <a:cs typeface="Arial MT"/>
              </a:rPr>
              <a:t>key</a:t>
            </a:r>
            <a:r>
              <a:rPr lang="it-IT" sz="2400" spc="-10" dirty="0">
                <a:latin typeface="Arial MT"/>
                <a:cs typeface="Arial MT"/>
              </a:rPr>
              <a:t>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it-IT" sz="2400" i="1" spc="-10" dirty="0" err="1">
                <a:latin typeface="Arial MT"/>
                <a:cs typeface="Arial MT"/>
              </a:rPr>
              <a:t>dm_x.sql</a:t>
            </a:r>
            <a:r>
              <a:rPr lang="it-IT" sz="2400" i="1" spc="-10" dirty="0">
                <a:latin typeface="Arial MT"/>
                <a:cs typeface="Arial MT"/>
              </a:rPr>
              <a:t> : </a:t>
            </a:r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it-IT" sz="2200" spc="-10" dirty="0">
                <a:latin typeface="Arial MT"/>
                <a:cs typeface="Arial MT"/>
              </a:rPr>
              <a:t>Si usa SEQUENCE di </a:t>
            </a:r>
            <a:r>
              <a:rPr lang="it-IT" sz="2200" spc="-10" dirty="0" err="1">
                <a:latin typeface="Arial MT"/>
                <a:cs typeface="Arial MT"/>
              </a:rPr>
              <a:t>DuckDB</a:t>
            </a:r>
            <a:r>
              <a:rPr lang="it-IT" sz="2200" spc="-10" dirty="0">
                <a:latin typeface="Arial MT"/>
                <a:cs typeface="Arial MT"/>
              </a:rPr>
              <a:t>  per generare ID incrementali (tranne che per la </a:t>
            </a:r>
            <a:r>
              <a:rPr lang="it-IT" sz="2200" spc="-10" dirty="0" err="1">
                <a:latin typeface="Arial MT"/>
                <a:cs typeface="Arial MT"/>
              </a:rPr>
              <a:t>Fact</a:t>
            </a:r>
            <a:r>
              <a:rPr lang="it-IT" sz="2200" spc="-10" dirty="0">
                <a:latin typeface="Arial MT"/>
                <a:cs typeface="Arial MT"/>
              </a:rPr>
              <a:t> </a:t>
            </a:r>
            <a:r>
              <a:rPr lang="it-IT" sz="2200" spc="-10" dirty="0" err="1">
                <a:latin typeface="Arial MT"/>
                <a:cs typeface="Arial MT"/>
              </a:rPr>
              <a:t>Table</a:t>
            </a:r>
            <a:r>
              <a:rPr lang="it-IT" sz="2200" spc="-10" dirty="0">
                <a:latin typeface="Arial MT"/>
                <a:cs typeface="Arial MT"/>
              </a:rPr>
              <a:t>) </a:t>
            </a:r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it-IT" sz="2200" spc="-10" dirty="0">
                <a:latin typeface="Arial MT"/>
                <a:cs typeface="Arial MT"/>
              </a:rPr>
              <a:t>Si ha caricamento diretto e incrementale dall’ODS con </a:t>
            </a:r>
            <a:r>
              <a:rPr lang="it-IT" sz="2200" b="1" spc="-10" dirty="0">
                <a:latin typeface="Arial MT"/>
                <a:cs typeface="Arial MT"/>
              </a:rPr>
              <a:t>last execution </a:t>
            </a:r>
            <a:r>
              <a:rPr lang="it-IT" sz="2200" b="1" spc="-10" dirty="0" err="1">
                <a:latin typeface="Arial MT"/>
                <a:cs typeface="Arial MT"/>
              </a:rPr>
              <a:t>times</a:t>
            </a:r>
            <a:r>
              <a:rPr lang="it-IT" sz="2200" spc="-10" dirty="0">
                <a:latin typeface="Arial MT"/>
                <a:cs typeface="Arial MT"/>
              </a:rPr>
              <a:t>, che è una tabella con i nomi dei modelli e la data della loro ultima modifica . 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it-IT" sz="2400" spc="-10" dirty="0">
                <a:latin typeface="Arial MT"/>
                <a:cs typeface="Arial MT"/>
              </a:rPr>
              <a:t>Colonnina: </a:t>
            </a:r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it-IT" sz="2200" i="1" spc="-10" dirty="0" err="1">
                <a:latin typeface="Arial MT"/>
                <a:cs typeface="Arial MT"/>
              </a:rPr>
              <a:t>dm_colonnina_fk_lookup.sql</a:t>
            </a:r>
            <a:r>
              <a:rPr lang="it-IT" sz="2200" i="1" spc="-10" dirty="0">
                <a:latin typeface="Arial MT"/>
                <a:cs typeface="Arial MT"/>
              </a:rPr>
              <a:t> (</a:t>
            </a:r>
            <a:r>
              <a:rPr lang="it-IT" sz="2200" i="1" spc="-10" dirty="0" err="1">
                <a:latin typeface="Arial MT"/>
                <a:cs typeface="Arial MT"/>
              </a:rPr>
              <a:t>materialized</a:t>
            </a:r>
            <a:r>
              <a:rPr lang="it-IT" sz="2200" i="1" spc="-10" dirty="0">
                <a:latin typeface="Arial MT"/>
                <a:cs typeface="Arial MT"/>
              </a:rPr>
              <a:t>=‘</a:t>
            </a:r>
            <a:r>
              <a:rPr lang="it-IT" sz="2200" i="1" spc="-10" dirty="0" err="1">
                <a:latin typeface="Arial MT"/>
                <a:cs typeface="Arial MT"/>
              </a:rPr>
              <a:t>ephemeral</a:t>
            </a:r>
            <a:r>
              <a:rPr lang="it-IT" sz="2200" i="1" spc="-10" dirty="0">
                <a:latin typeface="Arial MT"/>
                <a:cs typeface="Arial MT"/>
              </a:rPr>
              <a:t>’): </a:t>
            </a:r>
            <a:r>
              <a:rPr lang="it-IT" sz="2200" spc="-10" dirty="0">
                <a:latin typeface="Arial MT"/>
                <a:cs typeface="Arial MT"/>
              </a:rPr>
              <a:t>si gestisce il join spaziale tra Colonnina e Quartiere utilizzando </a:t>
            </a:r>
            <a:r>
              <a:rPr lang="it-IT" sz="2200" spc="-10" dirty="0" err="1">
                <a:latin typeface="Arial MT"/>
                <a:cs typeface="Arial MT"/>
              </a:rPr>
              <a:t>ST_Within</a:t>
            </a:r>
            <a:r>
              <a:rPr lang="it-IT" sz="2200" spc="-10" dirty="0">
                <a:latin typeface="Arial MT"/>
                <a:cs typeface="Arial MT"/>
              </a:rPr>
              <a:t>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it-IT" sz="2400" spc="-10" dirty="0" err="1">
                <a:latin typeface="Arial MT"/>
                <a:cs typeface="Arial MT"/>
              </a:rPr>
              <a:t>Fact</a:t>
            </a:r>
            <a:r>
              <a:rPr lang="it-IT" sz="2400" spc="-10" dirty="0">
                <a:latin typeface="Arial MT"/>
                <a:cs typeface="Arial MT"/>
              </a:rPr>
              <a:t> </a:t>
            </a:r>
            <a:r>
              <a:rPr lang="it-IT" sz="2400" spc="-10" dirty="0" err="1">
                <a:latin typeface="Arial MT"/>
                <a:cs typeface="Arial MT"/>
              </a:rPr>
              <a:t>Table</a:t>
            </a:r>
            <a:r>
              <a:rPr lang="it-IT" sz="2400" spc="-10" dirty="0">
                <a:latin typeface="Arial MT"/>
                <a:cs typeface="Arial MT"/>
              </a:rPr>
              <a:t> Rilevazione: </a:t>
            </a:r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it-IT" sz="2200" i="1" spc="-10" dirty="0" err="1">
                <a:latin typeface="Arial MT"/>
                <a:cs typeface="Arial MT"/>
              </a:rPr>
              <a:t>dm_rilevazione_fk_lookup</a:t>
            </a:r>
            <a:r>
              <a:rPr lang="it-IT" sz="2200" i="1" spc="-10" dirty="0">
                <a:latin typeface="Arial MT"/>
                <a:cs typeface="Arial MT"/>
              </a:rPr>
              <a:t> (</a:t>
            </a:r>
            <a:r>
              <a:rPr lang="it-IT" sz="2200" i="1" spc="-10" dirty="0" err="1">
                <a:latin typeface="Arial MT"/>
                <a:cs typeface="Arial MT"/>
              </a:rPr>
              <a:t>materialized</a:t>
            </a:r>
            <a:r>
              <a:rPr lang="it-IT" sz="2200" i="1" spc="-10" dirty="0">
                <a:latin typeface="Arial MT"/>
                <a:cs typeface="Arial MT"/>
              </a:rPr>
              <a:t>=‘</a:t>
            </a:r>
            <a:r>
              <a:rPr lang="it-IT" sz="2200" i="1" spc="-10" dirty="0" err="1">
                <a:latin typeface="Arial MT"/>
                <a:cs typeface="Arial MT"/>
              </a:rPr>
              <a:t>ephemeral</a:t>
            </a:r>
            <a:r>
              <a:rPr lang="it-IT" sz="2200" i="1" spc="-10" dirty="0">
                <a:latin typeface="Arial MT"/>
                <a:cs typeface="Arial MT"/>
              </a:rPr>
              <a:t>’): </a:t>
            </a:r>
            <a:r>
              <a:rPr lang="it-IT" sz="2200" spc="-10" dirty="0">
                <a:latin typeface="Arial MT"/>
                <a:cs typeface="Arial MT"/>
              </a:rPr>
              <a:t>assembla tutte le FK dalle dimensioni. 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it-IT" sz="2400" spc="-1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37234123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aborazione 3">
            <a:extLst>
              <a:ext uri="{FF2B5EF4-FFF2-40B4-BE49-F238E27FC236}">
                <a16:creationId xmlns:a16="http://schemas.microsoft.com/office/drawing/2014/main" id="{EF8D087E-D2CD-42DF-812D-5A558AA7F525}"/>
              </a:ext>
            </a:extLst>
          </p:cNvPr>
          <p:cNvSpPr/>
          <p:nvPr/>
        </p:nvSpPr>
        <p:spPr>
          <a:xfrm>
            <a:off x="0" y="0"/>
            <a:ext cx="316089" cy="6858000"/>
          </a:xfrm>
          <a:prstGeom prst="flowChartProcess">
            <a:avLst/>
          </a:prstGeom>
          <a:solidFill>
            <a:srgbClr val="00792D"/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9597073-690D-45CE-B023-125DE0D53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900" y="618871"/>
            <a:ext cx="10998200" cy="615553"/>
          </a:xfrm>
        </p:spPr>
        <p:txBody>
          <a:bodyPr/>
          <a:lstStyle/>
          <a:p>
            <a:r>
              <a:rPr lang="it-IT" sz="4000" dirty="0">
                <a:solidFill>
                  <a:schemeClr val="tx1"/>
                </a:solidFill>
              </a:rPr>
              <a:t>Gestione delle gerarchie spaziali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testo 2">
                <a:extLst>
                  <a:ext uri="{FF2B5EF4-FFF2-40B4-BE49-F238E27FC236}">
                    <a16:creationId xmlns:a16="http://schemas.microsoft.com/office/drawing/2014/main" id="{D4DBC7F8-96D1-4083-82C0-64082993E3A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96900" y="1446697"/>
                <a:ext cx="10998200" cy="4524315"/>
              </a:xfrm>
            </p:spPr>
            <p:txBody>
              <a:bodyPr/>
              <a:lstStyle/>
              <a:p>
                <a:pPr>
                  <a:spcBef>
                    <a:spcPts val="600"/>
                  </a:spcBef>
                </a:pPr>
                <a:r>
                  <a:rPr lang="it-IT" sz="2400" spc="-10" dirty="0">
                    <a:latin typeface="Arial MT"/>
                    <a:cs typeface="Arial MT"/>
                  </a:rPr>
                  <a:t>L’obiettivo è quello di associare ogni colonnina al quartiere in cui si trova. </a:t>
                </a:r>
              </a:p>
              <a:p>
                <a:pPr>
                  <a:spcBef>
                    <a:spcPts val="600"/>
                  </a:spcBef>
                </a:pPr>
                <a:r>
                  <a:rPr lang="it-IT" sz="2400" b="1" spc="-10" dirty="0">
                    <a:latin typeface="Arial MT"/>
                    <a:cs typeface="Arial MT"/>
                  </a:rPr>
                  <a:t>Problema: </a:t>
                </a:r>
                <a:r>
                  <a:rPr lang="it-IT" sz="2400" spc="-10" dirty="0">
                    <a:latin typeface="Arial MT"/>
                    <a:cs typeface="Arial MT"/>
                  </a:rPr>
                  <a:t>i confini definiti da un poligono non sono del tutto precisi, quindi colonnine situate vicino ai confini risultavano fuori dal loro quartiere oppure in due quartieri differenti. 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it-IT" sz="2400" b="1" spc="-10" dirty="0">
                    <a:latin typeface="Arial MT"/>
                    <a:cs typeface="Arial MT"/>
                  </a:rPr>
                  <a:t>Soluzione: </a:t>
                </a:r>
                <a:r>
                  <a:rPr lang="it-IT" sz="2400" spc="-10" dirty="0">
                    <a:latin typeface="Arial MT"/>
                    <a:cs typeface="Arial MT"/>
                  </a:rPr>
                  <a:t>utilizzare l’estensione </a:t>
                </a:r>
                <a:r>
                  <a:rPr lang="it-IT" sz="2400" spc="-10" dirty="0" err="1">
                    <a:latin typeface="Arial MT"/>
                    <a:cs typeface="Arial MT"/>
                  </a:rPr>
                  <a:t>Spatial</a:t>
                </a:r>
                <a:r>
                  <a:rPr lang="it-IT" sz="2400" spc="-10" dirty="0">
                    <a:latin typeface="Arial MT"/>
                    <a:cs typeface="Arial MT"/>
                  </a:rPr>
                  <a:t> di </a:t>
                </a:r>
                <a:r>
                  <a:rPr lang="it-IT" sz="2400" spc="-10" dirty="0" err="1">
                    <a:latin typeface="Arial MT"/>
                    <a:cs typeface="Arial MT"/>
                  </a:rPr>
                  <a:t>DuckDB</a:t>
                </a:r>
                <a:r>
                  <a:rPr lang="it-IT" sz="2400" spc="-10" dirty="0">
                    <a:latin typeface="Arial MT"/>
                    <a:cs typeface="Arial MT"/>
                  </a:rPr>
                  <a:t> ma inserendo una tolleranza di circa 20 metri (0.0002 gradi)</a:t>
                </a:r>
              </a:p>
              <a:p>
                <a:pPr>
                  <a:spcBef>
                    <a:spcPts val="18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pc="-10">
                          <a:latin typeface="Cambria Math" panose="02040503050406030204" pitchFamily="18" charset="0"/>
                          <a:cs typeface="Arial MT"/>
                        </a:rPr>
                        <m:t>𝑆𝑇</m:t>
                      </m:r>
                      <m:r>
                        <a:rPr lang="en-US" sz="2400" i="1" spc="-10">
                          <a:latin typeface="Cambria Math" panose="02040503050406030204" pitchFamily="18" charset="0"/>
                          <a:cs typeface="Arial MT"/>
                        </a:rPr>
                        <m:t>_</m:t>
                      </m:r>
                      <m:r>
                        <a:rPr lang="en-US" sz="2400" i="1" spc="-10">
                          <a:latin typeface="Cambria Math" panose="02040503050406030204" pitchFamily="18" charset="0"/>
                          <a:cs typeface="Arial MT"/>
                        </a:rPr>
                        <m:t>𝑊𝑖𝑡h𝑖𝑛</m:t>
                      </m:r>
                      <m:r>
                        <a:rPr lang="en-US" sz="2400" i="1" spc="-10">
                          <a:latin typeface="Cambria Math" panose="02040503050406030204" pitchFamily="18" charset="0"/>
                          <a:cs typeface="Arial MT"/>
                        </a:rPr>
                        <m:t>(</m:t>
                      </m:r>
                      <m:r>
                        <a:rPr lang="en-US" sz="2400" i="1" spc="-10">
                          <a:latin typeface="Cambria Math" panose="02040503050406030204" pitchFamily="18" charset="0"/>
                          <a:cs typeface="Arial MT"/>
                        </a:rPr>
                        <m:t>𝑆𝑇</m:t>
                      </m:r>
                      <m:r>
                        <a:rPr lang="en-US" sz="2400" i="1" spc="-10">
                          <a:latin typeface="Cambria Math" panose="02040503050406030204" pitchFamily="18" charset="0"/>
                          <a:cs typeface="Arial MT"/>
                        </a:rPr>
                        <m:t>_</m:t>
                      </m:r>
                      <m:r>
                        <a:rPr lang="en-US" sz="2400" i="1" spc="-10">
                          <a:latin typeface="Cambria Math" panose="02040503050406030204" pitchFamily="18" charset="0"/>
                          <a:cs typeface="Arial MT"/>
                        </a:rPr>
                        <m:t>𝑃𝑜𝑖𝑛𝑡</m:t>
                      </m:r>
                      <m:r>
                        <a:rPr lang="en-US" sz="2400" i="1" spc="-10">
                          <a:latin typeface="Cambria Math" panose="02040503050406030204" pitchFamily="18" charset="0"/>
                          <a:cs typeface="Arial MT"/>
                        </a:rPr>
                        <m:t>(</m:t>
                      </m:r>
                      <m:r>
                        <a:rPr lang="en-US" sz="2400" i="1" spc="-10">
                          <a:latin typeface="Cambria Math" panose="02040503050406030204" pitchFamily="18" charset="0"/>
                          <a:cs typeface="Arial MT"/>
                        </a:rPr>
                        <m:t>𝑐</m:t>
                      </m:r>
                      <m:r>
                        <a:rPr lang="en-US" sz="2400" i="1" spc="-10">
                          <a:latin typeface="Cambria Math" panose="02040503050406030204" pitchFamily="18" charset="0"/>
                          <a:cs typeface="Arial MT"/>
                        </a:rPr>
                        <m:t>.</m:t>
                      </m:r>
                      <m:r>
                        <a:rPr lang="en-US" sz="2400" i="1" spc="-10">
                          <a:latin typeface="Cambria Math" panose="02040503050406030204" pitchFamily="18" charset="0"/>
                          <a:cs typeface="Arial MT"/>
                        </a:rPr>
                        <m:t>𝑙𝑜𝑛𝑔𝑖𝑡𝑢𝑑𝑖𝑛𝑒</m:t>
                      </m:r>
                      <m:r>
                        <a:rPr lang="en-US" sz="2400" i="1" spc="-10">
                          <a:latin typeface="Cambria Math" panose="02040503050406030204" pitchFamily="18" charset="0"/>
                          <a:cs typeface="Arial MT"/>
                        </a:rPr>
                        <m:t>, </m:t>
                      </m:r>
                      <m:r>
                        <a:rPr lang="en-US" sz="2400" i="1" spc="-10">
                          <a:latin typeface="Cambria Math" panose="02040503050406030204" pitchFamily="18" charset="0"/>
                          <a:cs typeface="Arial MT"/>
                        </a:rPr>
                        <m:t>𝑐</m:t>
                      </m:r>
                      <m:r>
                        <a:rPr lang="en-US" sz="2400" i="1" spc="-10">
                          <a:latin typeface="Cambria Math" panose="02040503050406030204" pitchFamily="18" charset="0"/>
                          <a:cs typeface="Arial MT"/>
                        </a:rPr>
                        <m:t>.</m:t>
                      </m:r>
                      <m:r>
                        <a:rPr lang="en-US" sz="2400" i="1" spc="-10">
                          <a:latin typeface="Cambria Math" panose="02040503050406030204" pitchFamily="18" charset="0"/>
                          <a:cs typeface="Arial MT"/>
                        </a:rPr>
                        <m:t>𝑙𝑎𝑡𝑖𝑡𝑢𝑑𝑖𝑛𝑒</m:t>
                      </m:r>
                      <m:r>
                        <a:rPr lang="en-US" sz="2400" i="1" spc="-10">
                          <a:latin typeface="Cambria Math" panose="02040503050406030204" pitchFamily="18" charset="0"/>
                          <a:cs typeface="Arial MT"/>
                        </a:rPr>
                        <m:t>), </m:t>
                      </m:r>
                      <m:r>
                        <a:rPr lang="en-US" sz="2400" i="1" spc="-10">
                          <a:latin typeface="Cambria Math" panose="02040503050406030204" pitchFamily="18" charset="0"/>
                          <a:cs typeface="Arial MT"/>
                        </a:rPr>
                        <m:t>𝑜𝑞</m:t>
                      </m:r>
                      <m:r>
                        <a:rPr lang="en-US" sz="2400" i="1" spc="-10">
                          <a:latin typeface="Cambria Math" panose="02040503050406030204" pitchFamily="18" charset="0"/>
                          <a:cs typeface="Arial MT"/>
                        </a:rPr>
                        <m:t>.</m:t>
                      </m:r>
                      <m:r>
                        <a:rPr lang="en-US" sz="2400" i="1" spc="-10">
                          <a:latin typeface="Cambria Math" panose="02040503050406030204" pitchFamily="18" charset="0"/>
                          <a:cs typeface="Arial MT"/>
                        </a:rPr>
                        <m:t>𝑔𝑒𝑜𝑚</m:t>
                      </m:r>
                      <m:r>
                        <a:rPr lang="en-US" sz="2400" i="1" spc="-10">
                          <a:latin typeface="Cambria Math" panose="02040503050406030204" pitchFamily="18" charset="0"/>
                          <a:cs typeface="Arial MT"/>
                        </a:rPr>
                        <m:t>_</m:t>
                      </m:r>
                      <m:r>
                        <a:rPr lang="en-US" sz="2400" i="1" spc="-10">
                          <a:latin typeface="Cambria Math" panose="02040503050406030204" pitchFamily="18" charset="0"/>
                          <a:cs typeface="Arial MT"/>
                        </a:rPr>
                        <m:t>𝑝𝑒𝑟𝑖𝑚𝑒𝑡𝑟𝑜</m:t>
                      </m:r>
                      <m:r>
                        <a:rPr lang="en-US" sz="2400" i="1" spc="-10">
                          <a:latin typeface="Cambria Math" panose="02040503050406030204" pitchFamily="18" charset="0"/>
                          <a:cs typeface="Arial MT"/>
                        </a:rPr>
                        <m:t>, 0.0002)</m:t>
                      </m:r>
                    </m:oMath>
                  </m:oMathPara>
                </a14:m>
                <a:endParaRPr lang="it-IT" sz="2400" spc="-10" dirty="0">
                  <a:latin typeface="Arial MT"/>
                  <a:cs typeface="Arial MT"/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it-IT" sz="2400" spc="-10" dirty="0">
                    <a:latin typeface="Arial MT"/>
                    <a:cs typeface="Arial MT"/>
                  </a:rPr>
                  <a:t>Per risolvere il caso di una colonnina che risulta in più di un quartiere, si assegna la colonnina al quartiere con il </a:t>
                </a:r>
                <a:r>
                  <a:rPr lang="it-IT" sz="2400" spc="-10" dirty="0" err="1">
                    <a:latin typeface="Arial MT"/>
                    <a:cs typeface="Arial MT"/>
                  </a:rPr>
                  <a:t>centroide</a:t>
                </a:r>
                <a:r>
                  <a:rPr lang="it-IT" sz="2400" spc="-10" dirty="0">
                    <a:latin typeface="Arial MT"/>
                    <a:cs typeface="Arial MT"/>
                  </a:rPr>
                  <a:t> più vicino.</a:t>
                </a:r>
              </a:p>
              <a:p>
                <a:pPr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400" i="1" spc="-10">
                          <a:latin typeface="Cambria Math" panose="02040503050406030204" pitchFamily="18" charset="0"/>
                          <a:cs typeface="Arial MT"/>
                        </a:rPr>
                        <m:t>𝑆𝑇</m:t>
                      </m:r>
                      <m:r>
                        <a:rPr lang="it-IT" sz="2400" i="1" spc="-10">
                          <a:latin typeface="Cambria Math" panose="02040503050406030204" pitchFamily="18" charset="0"/>
                          <a:cs typeface="Arial MT"/>
                        </a:rPr>
                        <m:t>_</m:t>
                      </m:r>
                      <m:r>
                        <a:rPr lang="it-IT" sz="2400" i="1" spc="-10">
                          <a:latin typeface="Cambria Math" panose="02040503050406030204" pitchFamily="18" charset="0"/>
                          <a:cs typeface="Arial MT"/>
                        </a:rPr>
                        <m:t>𝐷𝑖𝑠𝑡𝑎𝑛𝑐𝑒</m:t>
                      </m:r>
                      <m:r>
                        <a:rPr lang="it-IT" sz="2400" i="1" spc="-10">
                          <a:latin typeface="Cambria Math" panose="02040503050406030204" pitchFamily="18" charset="0"/>
                          <a:cs typeface="Arial MT"/>
                        </a:rPr>
                        <m:t>(</m:t>
                      </m:r>
                      <m:r>
                        <a:rPr lang="it-IT" sz="2400" i="1" spc="-10">
                          <a:latin typeface="Cambria Math" panose="02040503050406030204" pitchFamily="18" charset="0"/>
                          <a:cs typeface="Arial MT"/>
                        </a:rPr>
                        <m:t>𝑆𝑇</m:t>
                      </m:r>
                      <m:r>
                        <a:rPr lang="it-IT" sz="2400" i="1" spc="-10">
                          <a:latin typeface="Cambria Math" panose="02040503050406030204" pitchFamily="18" charset="0"/>
                          <a:cs typeface="Arial MT"/>
                        </a:rPr>
                        <m:t>_</m:t>
                      </m:r>
                      <m:r>
                        <a:rPr lang="it-IT" sz="2400" i="1" spc="-10">
                          <a:latin typeface="Cambria Math" panose="02040503050406030204" pitchFamily="18" charset="0"/>
                          <a:cs typeface="Arial MT"/>
                        </a:rPr>
                        <m:t>𝑃𝑜𝑖𝑛𝑡</m:t>
                      </m:r>
                      <m:r>
                        <a:rPr lang="it-IT" sz="2400" i="1" spc="-10">
                          <a:latin typeface="Cambria Math" panose="02040503050406030204" pitchFamily="18" charset="0"/>
                          <a:cs typeface="Arial MT"/>
                        </a:rPr>
                        <m:t>(</m:t>
                      </m:r>
                      <m:r>
                        <a:rPr lang="it-IT" sz="2400" i="1" spc="-10">
                          <a:latin typeface="Cambria Math" panose="02040503050406030204" pitchFamily="18" charset="0"/>
                          <a:cs typeface="Arial MT"/>
                        </a:rPr>
                        <m:t>𝑐</m:t>
                      </m:r>
                      <m:r>
                        <a:rPr lang="it-IT" sz="2400" i="1" spc="-10">
                          <a:latin typeface="Cambria Math" panose="02040503050406030204" pitchFamily="18" charset="0"/>
                          <a:cs typeface="Arial MT"/>
                        </a:rPr>
                        <m:t>.</m:t>
                      </m:r>
                      <m:r>
                        <a:rPr lang="it-IT" sz="2400" i="1" spc="-10">
                          <a:latin typeface="Cambria Math" panose="02040503050406030204" pitchFamily="18" charset="0"/>
                          <a:cs typeface="Arial MT"/>
                        </a:rPr>
                        <m:t>𝑙𝑜𝑛𝑔𝑖𝑡𝑢𝑑𝑖𝑛𝑒</m:t>
                      </m:r>
                      <m:r>
                        <a:rPr lang="it-IT" sz="2400" i="1" spc="-10">
                          <a:latin typeface="Cambria Math" panose="02040503050406030204" pitchFamily="18" charset="0"/>
                          <a:cs typeface="Arial MT"/>
                        </a:rPr>
                        <m:t>, </m:t>
                      </m:r>
                      <m:r>
                        <a:rPr lang="it-IT" sz="2400" i="1" spc="-10">
                          <a:latin typeface="Cambria Math" panose="02040503050406030204" pitchFamily="18" charset="0"/>
                          <a:cs typeface="Arial MT"/>
                        </a:rPr>
                        <m:t>𝑐</m:t>
                      </m:r>
                      <m:r>
                        <a:rPr lang="it-IT" sz="2400" i="1" spc="-10">
                          <a:latin typeface="Cambria Math" panose="02040503050406030204" pitchFamily="18" charset="0"/>
                          <a:cs typeface="Arial MT"/>
                        </a:rPr>
                        <m:t>.</m:t>
                      </m:r>
                      <m:r>
                        <a:rPr lang="it-IT" sz="2400" i="1" spc="-10">
                          <a:latin typeface="Cambria Math" panose="02040503050406030204" pitchFamily="18" charset="0"/>
                          <a:cs typeface="Arial MT"/>
                        </a:rPr>
                        <m:t>𝑙𝑎𝑡𝑖𝑡𝑢𝑑𝑖𝑛𝑒</m:t>
                      </m:r>
                      <m:r>
                        <a:rPr lang="it-IT" sz="2400" i="1" spc="-10">
                          <a:latin typeface="Cambria Math" panose="02040503050406030204" pitchFamily="18" charset="0"/>
                          <a:cs typeface="Arial MT"/>
                        </a:rPr>
                        <m:t>),</m:t>
                      </m:r>
                    </m:oMath>
                  </m:oMathPara>
                </a14:m>
                <a:endParaRPr lang="it-IT" sz="2400" i="1" spc="-10" dirty="0">
                  <a:latin typeface="Cambria Math" panose="02040503050406030204" pitchFamily="18" charset="0"/>
                  <a:cs typeface="Arial MT"/>
                </a:endParaRPr>
              </a:p>
              <a:p>
                <a:pPr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400" i="1" spc="-10">
                          <a:latin typeface="Cambria Math" panose="02040503050406030204" pitchFamily="18" charset="0"/>
                          <a:cs typeface="Arial MT"/>
                        </a:rPr>
                        <m:t>𝑆𝑇</m:t>
                      </m:r>
                      <m:r>
                        <a:rPr lang="it-IT" sz="2400" i="1" spc="-10">
                          <a:latin typeface="Cambria Math" panose="02040503050406030204" pitchFamily="18" charset="0"/>
                          <a:cs typeface="Arial MT"/>
                        </a:rPr>
                        <m:t>_</m:t>
                      </m:r>
                      <m:r>
                        <a:rPr lang="it-IT" sz="2400" i="1" spc="-10">
                          <a:latin typeface="Cambria Math" panose="02040503050406030204" pitchFamily="18" charset="0"/>
                          <a:cs typeface="Arial MT"/>
                        </a:rPr>
                        <m:t>𝑃𝑜𝑖𝑛𝑡</m:t>
                      </m:r>
                      <m:r>
                        <a:rPr lang="it-IT" sz="2400" i="1" spc="-10">
                          <a:latin typeface="Cambria Math" panose="02040503050406030204" pitchFamily="18" charset="0"/>
                          <a:cs typeface="Arial MT"/>
                        </a:rPr>
                        <m:t>(</m:t>
                      </m:r>
                      <m:r>
                        <a:rPr lang="it-IT" sz="2400" i="1" spc="-10">
                          <a:latin typeface="Cambria Math" panose="02040503050406030204" pitchFamily="18" charset="0"/>
                          <a:cs typeface="Arial MT"/>
                        </a:rPr>
                        <m:t>𝑑𝑞</m:t>
                      </m:r>
                      <m:r>
                        <a:rPr lang="it-IT" sz="2400" i="1" spc="-10">
                          <a:latin typeface="Cambria Math" panose="02040503050406030204" pitchFamily="18" charset="0"/>
                          <a:cs typeface="Arial MT"/>
                        </a:rPr>
                        <m:t>.</m:t>
                      </m:r>
                      <m:r>
                        <a:rPr lang="it-IT" sz="2400" i="1" spc="-10">
                          <a:latin typeface="Cambria Math" panose="02040503050406030204" pitchFamily="18" charset="0"/>
                          <a:cs typeface="Arial MT"/>
                        </a:rPr>
                        <m:t>𝑙𝑜𝑛𝑔𝑖𝑡𝑢𝑑𝑖𝑛𝑒𝐶𝑒𝑛𝑡𝑟𝑜</m:t>
                      </m:r>
                      <m:r>
                        <a:rPr lang="it-IT" sz="2400" i="1" spc="-10">
                          <a:latin typeface="Cambria Math" panose="02040503050406030204" pitchFamily="18" charset="0"/>
                          <a:cs typeface="Arial MT"/>
                        </a:rPr>
                        <m:t>, </m:t>
                      </m:r>
                      <m:r>
                        <a:rPr lang="it-IT" sz="2400" i="1" spc="-10">
                          <a:latin typeface="Cambria Math" panose="02040503050406030204" pitchFamily="18" charset="0"/>
                          <a:cs typeface="Arial MT"/>
                        </a:rPr>
                        <m:t>𝑑𝑞</m:t>
                      </m:r>
                      <m:r>
                        <a:rPr lang="it-IT" sz="2400" i="1" spc="-10">
                          <a:latin typeface="Cambria Math" panose="02040503050406030204" pitchFamily="18" charset="0"/>
                          <a:cs typeface="Arial MT"/>
                        </a:rPr>
                        <m:t>.</m:t>
                      </m:r>
                      <m:r>
                        <a:rPr lang="it-IT" sz="2400" i="1" spc="-10">
                          <a:latin typeface="Cambria Math" panose="02040503050406030204" pitchFamily="18" charset="0"/>
                          <a:cs typeface="Arial MT"/>
                        </a:rPr>
                        <m:t>𝑙𝑎𝑡𝑖𝑡𝑢𝑑𝑖𝑛𝑒𝐶𝑒𝑛𝑡𝑟𝑜</m:t>
                      </m:r>
                      <m:r>
                        <a:rPr lang="it-IT" sz="2400" i="1" spc="-10">
                          <a:latin typeface="Cambria Math" panose="02040503050406030204" pitchFamily="18" charset="0"/>
                          <a:cs typeface="Arial MT"/>
                        </a:rPr>
                        <m:t>)) </m:t>
                      </m:r>
                      <m:r>
                        <a:rPr lang="it-IT" sz="2400" i="1" spc="-10">
                          <a:latin typeface="Cambria Math" panose="02040503050406030204" pitchFamily="18" charset="0"/>
                          <a:cs typeface="Arial MT"/>
                        </a:rPr>
                        <m:t>𝑎𝑠</m:t>
                      </m:r>
                      <m:r>
                        <a:rPr lang="it-IT" sz="2400" i="1" spc="-10">
                          <a:latin typeface="Cambria Math" panose="02040503050406030204" pitchFamily="18" charset="0"/>
                          <a:cs typeface="Arial MT"/>
                        </a:rPr>
                        <m:t> </m:t>
                      </m:r>
                      <m:r>
                        <a:rPr lang="it-IT" sz="2400" i="1" spc="-10">
                          <a:latin typeface="Cambria Math" panose="02040503050406030204" pitchFamily="18" charset="0"/>
                          <a:cs typeface="Arial MT"/>
                        </a:rPr>
                        <m:t>𝑑𝑖𝑠𝑡𝑎𝑛𝑧𝑎</m:t>
                      </m:r>
                    </m:oMath>
                  </m:oMathPara>
                </a14:m>
                <a:endParaRPr lang="it-IT" sz="2400" spc="-10" dirty="0">
                  <a:latin typeface="Arial MT"/>
                  <a:cs typeface="Arial MT"/>
                </a:endParaRPr>
              </a:p>
            </p:txBody>
          </p:sp>
        </mc:Choice>
        <mc:Fallback xmlns="">
          <p:sp>
            <p:nvSpPr>
              <p:cNvPr id="3" name="Segnaposto testo 2">
                <a:extLst>
                  <a:ext uri="{FF2B5EF4-FFF2-40B4-BE49-F238E27FC236}">
                    <a16:creationId xmlns:a16="http://schemas.microsoft.com/office/drawing/2014/main" id="{D4DBC7F8-96D1-4083-82C0-64082993E3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96900" y="1446697"/>
                <a:ext cx="10998200" cy="4524315"/>
              </a:xfrm>
              <a:blipFill>
                <a:blip r:embed="rId3"/>
                <a:stretch>
                  <a:fillRect l="-1718" t="-1887" r="-1552" b="-229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70596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aborazione 3">
            <a:extLst>
              <a:ext uri="{FF2B5EF4-FFF2-40B4-BE49-F238E27FC236}">
                <a16:creationId xmlns:a16="http://schemas.microsoft.com/office/drawing/2014/main" id="{EF8D087E-D2CD-42DF-812D-5A558AA7F525}"/>
              </a:ext>
            </a:extLst>
          </p:cNvPr>
          <p:cNvSpPr/>
          <p:nvPr/>
        </p:nvSpPr>
        <p:spPr>
          <a:xfrm>
            <a:off x="0" y="0"/>
            <a:ext cx="316089" cy="6858000"/>
          </a:xfrm>
          <a:prstGeom prst="flowChartProcess">
            <a:avLst/>
          </a:prstGeom>
          <a:solidFill>
            <a:srgbClr val="00792D"/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9597073-690D-45CE-B023-125DE0D53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900" y="618871"/>
            <a:ext cx="10998200" cy="615553"/>
          </a:xfrm>
        </p:spPr>
        <p:txBody>
          <a:bodyPr/>
          <a:lstStyle/>
          <a:p>
            <a:r>
              <a:rPr lang="it-IT" sz="4000" dirty="0">
                <a:solidFill>
                  <a:schemeClr val="tx1"/>
                </a:solidFill>
              </a:rPr>
              <a:t>Analisi dei risultati 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4DBC7F8-96D1-4083-82C0-64082993E3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6900" y="2131558"/>
            <a:ext cx="6050138" cy="738664"/>
          </a:xfrm>
        </p:spPr>
        <p:txBody>
          <a:bodyPr/>
          <a:lstStyle/>
          <a:p>
            <a:r>
              <a:rPr lang="it-IT" sz="2400" spc="-10" dirty="0">
                <a:latin typeface="Arial MT"/>
                <a:cs typeface="Arial MT"/>
              </a:rPr>
              <a:t>Andamento degli ultimi 5 anni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spc="-10" dirty="0">
                <a:latin typeface="Arial MT"/>
                <a:cs typeface="Arial MT"/>
              </a:rPr>
              <a:t>Crescita elevata negli ultimi anni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B3EDFDF0-C05C-47E7-A8A6-42F5D6DD77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4094" y="408894"/>
            <a:ext cx="4324737" cy="3492698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BF7CDC55-5499-4308-8F5E-B1C3AA21E40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13" t="6925" r="4317" b="10690"/>
          <a:stretch/>
        </p:blipFill>
        <p:spPr>
          <a:xfrm>
            <a:off x="564313" y="3003778"/>
            <a:ext cx="6407626" cy="3153215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FE37C1EE-95A5-4F44-8135-62828192C953}"/>
              </a:ext>
            </a:extLst>
          </p:cNvPr>
          <p:cNvSpPr txBox="1"/>
          <p:nvPr/>
        </p:nvSpPr>
        <p:spPr>
          <a:xfrm>
            <a:off x="7622722" y="3901592"/>
            <a:ext cx="426608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>
                <a:latin typeface="Arial MT"/>
              </a:rPr>
              <a:t>Andamento annuale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>
                <a:latin typeface="Arial MT"/>
              </a:rPr>
              <a:t>Picchi di utilizzo in primavera e autunno, crolli in inverno e nel mese di Agosto </a:t>
            </a:r>
          </a:p>
        </p:txBody>
      </p:sp>
    </p:spTree>
    <p:extLst>
      <p:ext uri="{BB962C8B-B14F-4D97-AF65-F5344CB8AC3E}">
        <p14:creationId xmlns:p14="http://schemas.microsoft.com/office/powerpoint/2010/main" val="29396585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aborazione 3">
            <a:extLst>
              <a:ext uri="{FF2B5EF4-FFF2-40B4-BE49-F238E27FC236}">
                <a16:creationId xmlns:a16="http://schemas.microsoft.com/office/drawing/2014/main" id="{EF8D087E-D2CD-42DF-812D-5A558AA7F525}"/>
              </a:ext>
            </a:extLst>
          </p:cNvPr>
          <p:cNvSpPr/>
          <p:nvPr/>
        </p:nvSpPr>
        <p:spPr>
          <a:xfrm>
            <a:off x="0" y="0"/>
            <a:ext cx="316089" cy="6858000"/>
          </a:xfrm>
          <a:prstGeom prst="flowChartProcess">
            <a:avLst/>
          </a:prstGeom>
          <a:solidFill>
            <a:srgbClr val="00792D"/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9597073-690D-45CE-B023-125DE0D53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900" y="414428"/>
            <a:ext cx="10998200" cy="615553"/>
          </a:xfrm>
        </p:spPr>
        <p:txBody>
          <a:bodyPr/>
          <a:lstStyle/>
          <a:p>
            <a:r>
              <a:rPr lang="it-IT" sz="4000" dirty="0">
                <a:solidFill>
                  <a:schemeClr val="tx1"/>
                </a:solidFill>
              </a:rPr>
              <a:t>Analisi dei risultati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4DBC7F8-96D1-4083-82C0-64082993E3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89108" y="4887591"/>
            <a:ext cx="6705992" cy="1107996"/>
          </a:xfrm>
        </p:spPr>
        <p:txBody>
          <a:bodyPr/>
          <a:lstStyle/>
          <a:p>
            <a:pPr algn="l"/>
            <a:r>
              <a:rPr lang="it-IT" sz="2400" spc="-10" dirty="0">
                <a:latin typeface="Arial MT"/>
                <a:cs typeface="Arial MT"/>
              </a:rPr>
              <a:t>Media oraria delle rilevazioni in base a se ci sono o meno precipitazioni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it-IT" sz="2400" spc="-10" dirty="0">
                <a:latin typeface="Arial MT"/>
                <a:cs typeface="Arial MT"/>
              </a:rPr>
              <a:t>Le precipitazioni dimezzano il traffico ciclistico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7CF9410A-73C0-436F-AA8C-3195512928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9217" y="605561"/>
            <a:ext cx="3866837" cy="4100086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0832F39B-C4D6-4B46-9CE8-C19624814F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900" y="2853535"/>
            <a:ext cx="2897414" cy="3704224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689C06CE-2124-4957-B2DA-7744D5DFAC42}"/>
              </a:ext>
            </a:extLst>
          </p:cNvPr>
          <p:cNvSpPr txBox="1"/>
          <p:nvPr/>
        </p:nvSpPr>
        <p:spPr>
          <a:xfrm>
            <a:off x="523830" y="1234474"/>
            <a:ext cx="630151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>
                <a:latin typeface="Arial MT"/>
              </a:rPr>
              <a:t>Media oraria delle rilevazioni in base alla temperatura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dirty="0">
                <a:latin typeface="Arial MT"/>
              </a:rPr>
              <a:t>Quando fa freddo °(&lt;10°) il traffico si dimezza rispetto a quando fa caldo (&gt; 25°)</a:t>
            </a:r>
          </a:p>
        </p:txBody>
      </p:sp>
    </p:spTree>
    <p:extLst>
      <p:ext uri="{BB962C8B-B14F-4D97-AF65-F5344CB8AC3E}">
        <p14:creationId xmlns:p14="http://schemas.microsoft.com/office/powerpoint/2010/main" val="29372317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aborazione 3">
            <a:extLst>
              <a:ext uri="{FF2B5EF4-FFF2-40B4-BE49-F238E27FC236}">
                <a16:creationId xmlns:a16="http://schemas.microsoft.com/office/drawing/2014/main" id="{EF8D087E-D2CD-42DF-812D-5A558AA7F525}"/>
              </a:ext>
            </a:extLst>
          </p:cNvPr>
          <p:cNvSpPr/>
          <p:nvPr/>
        </p:nvSpPr>
        <p:spPr>
          <a:xfrm>
            <a:off x="0" y="0"/>
            <a:ext cx="316089" cy="6858000"/>
          </a:xfrm>
          <a:prstGeom prst="flowChartProcess">
            <a:avLst/>
          </a:prstGeom>
          <a:solidFill>
            <a:srgbClr val="00792D"/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9597073-690D-45CE-B023-125DE0D53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900" y="470486"/>
            <a:ext cx="10998200" cy="615553"/>
          </a:xfrm>
        </p:spPr>
        <p:txBody>
          <a:bodyPr/>
          <a:lstStyle/>
          <a:p>
            <a:r>
              <a:rPr lang="it-IT" sz="4000" dirty="0">
                <a:solidFill>
                  <a:schemeClr val="tx1"/>
                </a:solidFill>
              </a:rPr>
              <a:t>Analisi dei risultati 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4DBC7F8-96D1-4083-82C0-64082993E3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6900" y="1219326"/>
            <a:ext cx="10833101" cy="369332"/>
          </a:xfrm>
        </p:spPr>
        <p:txBody>
          <a:bodyPr/>
          <a:lstStyle/>
          <a:p>
            <a:r>
              <a:rPr lang="it-IT" sz="2400" spc="-10" dirty="0">
                <a:latin typeface="Arial MT"/>
                <a:cs typeface="Arial MT"/>
              </a:rPr>
              <a:t>Analisi del flusso nelle ore di punta diviso per quartiere in cui viene generato. </a:t>
            </a:r>
          </a:p>
        </p:txBody>
      </p:sp>
      <p:pic>
        <p:nvPicPr>
          <p:cNvPr id="17" name="Immagine 16">
            <a:extLst>
              <a:ext uri="{FF2B5EF4-FFF2-40B4-BE49-F238E27FC236}">
                <a16:creationId xmlns:a16="http://schemas.microsoft.com/office/drawing/2014/main" id="{36C69369-E0C8-4C9B-982C-4571407511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4484" y="1834874"/>
            <a:ext cx="8918073" cy="4681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4820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aborazione 3">
            <a:extLst>
              <a:ext uri="{FF2B5EF4-FFF2-40B4-BE49-F238E27FC236}">
                <a16:creationId xmlns:a16="http://schemas.microsoft.com/office/drawing/2014/main" id="{EF8D087E-D2CD-42DF-812D-5A558AA7F525}"/>
              </a:ext>
            </a:extLst>
          </p:cNvPr>
          <p:cNvSpPr/>
          <p:nvPr/>
        </p:nvSpPr>
        <p:spPr>
          <a:xfrm>
            <a:off x="0" y="0"/>
            <a:ext cx="316089" cy="6858000"/>
          </a:xfrm>
          <a:prstGeom prst="flowChartProcess">
            <a:avLst/>
          </a:prstGeom>
          <a:solidFill>
            <a:srgbClr val="00792D"/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9597073-690D-45CE-B023-125DE0D53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900" y="618871"/>
            <a:ext cx="10998200" cy="615553"/>
          </a:xfrm>
        </p:spPr>
        <p:txBody>
          <a:bodyPr/>
          <a:lstStyle/>
          <a:p>
            <a:r>
              <a:rPr lang="it-IT" sz="4000" dirty="0">
                <a:solidFill>
                  <a:schemeClr val="tx1"/>
                </a:solidFill>
              </a:rPr>
              <a:t>Analisi dei risultati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4DBC7F8-96D1-4083-82C0-64082993E3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6900" y="1333626"/>
            <a:ext cx="5118100" cy="738664"/>
          </a:xfrm>
        </p:spPr>
        <p:txBody>
          <a:bodyPr/>
          <a:lstStyle/>
          <a:p>
            <a:r>
              <a:rPr lang="it-IT" sz="2400" spc="-10" dirty="0">
                <a:latin typeface="Arial MT"/>
                <a:cs typeface="Arial MT"/>
              </a:rPr>
              <a:t>Media oraria delle rilevazioni divise per quartiere e per direzione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3A5A89DB-2210-487D-B23A-20CB308A43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626" y="2142839"/>
            <a:ext cx="3632953" cy="4449348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4384C271-7C11-40B7-A1E1-7C56F19C5A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8384" y="260415"/>
            <a:ext cx="4262757" cy="4180676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FAF56498-EFCF-48BE-860E-63324BE8EA12}"/>
              </a:ext>
            </a:extLst>
          </p:cNvPr>
          <p:cNvSpPr txBox="1"/>
          <p:nvPr/>
        </p:nvSpPr>
        <p:spPr>
          <a:xfrm>
            <a:off x="5105400" y="2609850"/>
            <a:ext cx="2124531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spc="-10" dirty="0">
                <a:latin typeface="Arial MT"/>
                <a:cs typeface="Arial MT"/>
              </a:rPr>
              <a:t>Verde acqua </a:t>
            </a:r>
            <a:r>
              <a:rPr lang="it-IT" sz="2400" spc="-10" dirty="0">
                <a:latin typeface="Arial MT"/>
                <a:cs typeface="Arial MT"/>
                <a:sym typeface="Wingdings" panose="05000000000000000000" pitchFamily="2" charset="2"/>
              </a:rPr>
              <a:t></a:t>
            </a:r>
            <a:r>
              <a:rPr lang="it-IT" sz="2400" spc="-10" dirty="0">
                <a:latin typeface="Arial MT"/>
                <a:cs typeface="Arial MT"/>
              </a:rPr>
              <a:t> centro</a:t>
            </a:r>
          </a:p>
          <a:p>
            <a:endParaRPr lang="it-IT" sz="2400" spc="-10" dirty="0">
              <a:latin typeface="Arial MT"/>
              <a:cs typeface="Arial MT"/>
            </a:endParaRPr>
          </a:p>
          <a:p>
            <a:r>
              <a:rPr lang="it-IT" sz="2400" spc="-10" dirty="0">
                <a:latin typeface="Arial MT"/>
                <a:cs typeface="Arial MT"/>
              </a:rPr>
              <a:t>Verde scuro </a:t>
            </a:r>
            <a:r>
              <a:rPr lang="it-IT" sz="2400" spc="-10" dirty="0">
                <a:latin typeface="Arial MT"/>
                <a:cs typeface="Arial MT"/>
                <a:sym typeface="Wingdings" panose="05000000000000000000" pitchFamily="2" charset="2"/>
              </a:rPr>
              <a:t></a:t>
            </a:r>
            <a:r>
              <a:rPr lang="it-IT" sz="2400" spc="-10" dirty="0">
                <a:latin typeface="Arial MT"/>
                <a:cs typeface="Arial MT"/>
              </a:rPr>
              <a:t> periferia</a:t>
            </a:r>
          </a:p>
          <a:p>
            <a:endParaRPr lang="it-IT" dirty="0"/>
          </a:p>
        </p:txBody>
      </p:sp>
      <p:sp>
        <p:nvSpPr>
          <p:cNvPr id="13" name="Segnaposto testo 2">
            <a:extLst>
              <a:ext uri="{FF2B5EF4-FFF2-40B4-BE49-F238E27FC236}">
                <a16:creationId xmlns:a16="http://schemas.microsoft.com/office/drawing/2014/main" id="{B53DF4F8-DE26-4733-9388-230666FF8CCB}"/>
              </a:ext>
            </a:extLst>
          </p:cNvPr>
          <p:cNvSpPr txBox="1">
            <a:spLocks/>
          </p:cNvSpPr>
          <p:nvPr/>
        </p:nvSpPr>
        <p:spPr>
          <a:xfrm>
            <a:off x="7229931" y="4707128"/>
            <a:ext cx="4598811" cy="738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it-IT" sz="2400" kern="0" spc="-10" dirty="0">
                <a:latin typeface="Arial MT"/>
                <a:cs typeface="Arial MT"/>
              </a:rPr>
              <a:t>Media oraria delle rilevazioni nelle ore di punta divise per direzione</a:t>
            </a:r>
          </a:p>
        </p:txBody>
      </p:sp>
    </p:spTree>
    <p:extLst>
      <p:ext uri="{BB962C8B-B14F-4D97-AF65-F5344CB8AC3E}">
        <p14:creationId xmlns:p14="http://schemas.microsoft.com/office/powerpoint/2010/main" val="18577976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aborazione 3">
            <a:extLst>
              <a:ext uri="{FF2B5EF4-FFF2-40B4-BE49-F238E27FC236}">
                <a16:creationId xmlns:a16="http://schemas.microsoft.com/office/drawing/2014/main" id="{EF8D087E-D2CD-42DF-812D-5A558AA7F525}"/>
              </a:ext>
            </a:extLst>
          </p:cNvPr>
          <p:cNvSpPr/>
          <p:nvPr/>
        </p:nvSpPr>
        <p:spPr>
          <a:xfrm>
            <a:off x="0" y="0"/>
            <a:ext cx="316089" cy="6858000"/>
          </a:xfrm>
          <a:prstGeom prst="flowChartProcess">
            <a:avLst/>
          </a:prstGeom>
          <a:solidFill>
            <a:srgbClr val="00792D"/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9597073-690D-45CE-B023-125DE0D53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900" y="339124"/>
            <a:ext cx="10998200" cy="615553"/>
          </a:xfrm>
        </p:spPr>
        <p:txBody>
          <a:bodyPr/>
          <a:lstStyle/>
          <a:p>
            <a:r>
              <a:rPr lang="it-IT" sz="4000" dirty="0">
                <a:solidFill>
                  <a:schemeClr val="tx1"/>
                </a:solidFill>
              </a:rPr>
              <a:t>Analisi dei risultati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1C6A9C9E-614B-4C90-8666-CFA3DC8EFF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6900" y="1044697"/>
            <a:ext cx="10424795" cy="738664"/>
          </a:xfrm>
        </p:spPr>
        <p:txBody>
          <a:bodyPr/>
          <a:lstStyle/>
          <a:p>
            <a:r>
              <a:rPr lang="it-IT" sz="2400" dirty="0">
                <a:latin typeface="Arial MT"/>
              </a:rPr>
              <a:t>Punti che rappresentano le colonnine sul territorio, divise per quartiere e di grandezza proporzionale al flusso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4F4CF9F7-A5C4-4195-89F7-93334D711B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6367" y="1870009"/>
            <a:ext cx="8739266" cy="4648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2774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aborazione 3">
            <a:extLst>
              <a:ext uri="{FF2B5EF4-FFF2-40B4-BE49-F238E27FC236}">
                <a16:creationId xmlns:a16="http://schemas.microsoft.com/office/drawing/2014/main" id="{EF8D087E-D2CD-42DF-812D-5A558AA7F525}"/>
              </a:ext>
            </a:extLst>
          </p:cNvPr>
          <p:cNvSpPr/>
          <p:nvPr/>
        </p:nvSpPr>
        <p:spPr>
          <a:xfrm>
            <a:off x="0" y="0"/>
            <a:ext cx="316089" cy="6858000"/>
          </a:xfrm>
          <a:prstGeom prst="flowChartProcess">
            <a:avLst/>
          </a:prstGeom>
          <a:solidFill>
            <a:srgbClr val="00792D"/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9597073-690D-45CE-B023-125DE0D53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900" y="339124"/>
            <a:ext cx="10998200" cy="615553"/>
          </a:xfrm>
        </p:spPr>
        <p:txBody>
          <a:bodyPr/>
          <a:lstStyle/>
          <a:p>
            <a:r>
              <a:rPr lang="it-IT" sz="4000" dirty="0">
                <a:solidFill>
                  <a:schemeClr val="tx1"/>
                </a:solidFill>
              </a:rPr>
              <a:t>Conclusioni 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1C6A9C9E-614B-4C90-8666-CFA3DC8EFF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6900" y="1403926"/>
            <a:ext cx="10424795" cy="4739759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it-IT" sz="2400" dirty="0">
                <a:latin typeface="Arial MT"/>
              </a:rPr>
              <a:t>Dall’analisi dei risultati si derivano delle raccomandazioni: 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it-IT" sz="2400" b="1" dirty="0">
                <a:latin typeface="Arial MT"/>
              </a:rPr>
              <a:t>Espansione delle colonnine: </a:t>
            </a:r>
            <a:r>
              <a:rPr lang="it-IT" sz="2400" dirty="0">
                <a:latin typeface="Arial MT"/>
              </a:rPr>
              <a:t>è necessario installare nuove colonnine nelle zone del territorio che ne sono prive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it-IT" sz="2400" b="1" dirty="0">
                <a:latin typeface="Arial MT"/>
              </a:rPr>
              <a:t>Aggiunta di piste ciclabili: </a:t>
            </a:r>
            <a:r>
              <a:rPr lang="it-IT" sz="2400" dirty="0">
                <a:latin typeface="Arial MT"/>
              </a:rPr>
              <a:t>intensificare le piste ciclabili dove c’è un grande flusso di ciclisti. 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it-IT" sz="2400" b="1" dirty="0">
                <a:latin typeface="Arial MT"/>
              </a:rPr>
              <a:t>Manutenzione invernale piste ciclabili: </a:t>
            </a:r>
            <a:r>
              <a:rPr lang="it-IT" sz="2400" dirty="0">
                <a:latin typeface="Arial MT"/>
              </a:rPr>
              <a:t>applicare delle politiche di pulizia delle piste ciclabili in caso di ghiaccio o neve e evitare che si allaghino in caso di pioggia. 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it-IT" sz="2400" b="1" dirty="0">
                <a:latin typeface="Arial MT"/>
              </a:rPr>
              <a:t>Pianificazione dinamica del bike sharing: </a:t>
            </a:r>
            <a:r>
              <a:rPr lang="it-IT" sz="2400" dirty="0">
                <a:latin typeface="Arial MT"/>
              </a:rPr>
              <a:t>introduzione di un servizio di bike sharing con ridistribuzione delle bici nei quartieri basata sui picchi orari.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it-IT" sz="2400" dirty="0">
              <a:latin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47534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2676</TotalTime>
  <Words>1473</Words>
  <Application>Microsoft Office PowerPoint</Application>
  <PresentationFormat>Widescreen</PresentationFormat>
  <Paragraphs>166</Paragraphs>
  <Slides>17</Slides>
  <Notes>10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17</vt:i4>
      </vt:variant>
    </vt:vector>
  </HeadingPairs>
  <TitlesOfParts>
    <vt:vector size="23" baseType="lpstr">
      <vt:lpstr>Arial</vt:lpstr>
      <vt:lpstr>Arial MT</vt:lpstr>
      <vt:lpstr>Calibri</vt:lpstr>
      <vt:lpstr>Cambria Math</vt:lpstr>
      <vt:lpstr>Wingdings</vt:lpstr>
      <vt:lpstr>Office Theme</vt:lpstr>
      <vt:lpstr>Presentazione standard di PowerPoint</vt:lpstr>
      <vt:lpstr>Contesto e Obiettivi</vt:lpstr>
      <vt:lpstr>Sorgenti dati</vt:lpstr>
      <vt:lpstr>Qualità dei dati e conflitti</vt:lpstr>
      <vt:lpstr>Architettura del DataWarehouse</vt:lpstr>
      <vt:lpstr>Analisi del carico di lavoro</vt:lpstr>
      <vt:lpstr>Progettazione Concettuale (DFM)</vt:lpstr>
      <vt:lpstr>Schema logico e scelte implementative</vt:lpstr>
      <vt:lpstr>Pipeline ELT</vt:lpstr>
      <vt:lpstr>Pipeline ELT</vt:lpstr>
      <vt:lpstr>Gestione delle gerarchie spaziali</vt:lpstr>
      <vt:lpstr>Analisi dei risultati </vt:lpstr>
      <vt:lpstr>Analisi dei risultati</vt:lpstr>
      <vt:lpstr>Analisi dei risultati </vt:lpstr>
      <vt:lpstr>Analisi dei risultati</vt:lpstr>
      <vt:lpstr>Analisi dei risultati</vt:lpstr>
      <vt:lpstr>Conclusioni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Emma Villa</dc:creator>
  <cp:lastModifiedBy>e.villa80@campus.unimib.it</cp:lastModifiedBy>
  <cp:revision>115</cp:revision>
  <dcterms:created xsi:type="dcterms:W3CDTF">2024-09-29T13:33:03Z</dcterms:created>
  <dcterms:modified xsi:type="dcterms:W3CDTF">2026-02-16T15:38:00Z</dcterms:modified>
</cp:coreProperties>
</file>